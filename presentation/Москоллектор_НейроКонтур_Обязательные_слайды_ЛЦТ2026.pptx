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9" r:id="rId11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000" y="2550000"/>
            <a:ext cx="6600000" cy="1350000"/>
          </a:xfrm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b="1" i="0" dirty="0">
                <a:solidFill>
                  <a:srgbClr val="F2F2F2"/>
                </a:solidFill>
              </a:rPr>
              <a:t>НейроКонтур</a:t>
            </a:r>
            <a:endParaRPr lang="ru-RU" sz="60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0000" y="4420000"/>
            <a:ext cx="6300000" cy="1300000"/>
          </a:xfrm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800" b="1" i="0" dirty="0">
                <a:solidFill>
                  <a:srgbClr val="F2F2F2"/>
                </a:solidFill>
              </a:rPr>
              <a:t>Команда Vector</a:t>
            </a:r>
            <a:endParaRPr lang="ru-RU" sz="2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dirty="0">
                <a:solidFill>
                  <a:schemeClr val="accent2"/>
                </a:solidFill>
              </a:rPr>
              <a:t>Задача 8 · АО «Москоллектор»</a:t>
            </a:r>
            <a:endParaRPr lang="ru-RU" sz="2000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3575280" cy="2113993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Логотип постановщика задачи" descr="Логотип Департамента жилищно-коммунального хозяйства города Москвы — постановщика задачи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800000"/>
            <a:ext cx="2228571" cy="800000"/>
          </a:xfrm>
          <a:prstGeom prst="rect">
            <a:avLst/>
          </a:prstGeom>
        </p:spPr>
      </p:pic>
      <p:sp>
        <p:nvSpPr>
          <p:cNvPr id="106" name="Подпись постановщика"/>
          <p:cNvSpPr txBox="1"/>
          <p:nvPr/>
        </p:nvSpPr>
        <p:spPr>
          <a:xfrm>
            <a:off x="500000" y="36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i="0" dirty="0" spc="120">
                <a:solidFill>
                  <a:schemeClr val="accent2"/>
                </a:solidFill>
              </a:rPr>
              <a:t>ПОСТАНОВЩИК ЗАДАЧИ</a:t>
            </a:r>
            <a:endParaRPr lang="ru-RU" sz="1050" dirty="0"/>
          </a:p>
        </p:txBody>
      </p:sp>
      <p:sp>
        <p:nvSpPr>
          <p:cNvPr id="107" name="Акцентная линия"/>
          <p:cNvSpPr/>
          <p:nvPr/>
        </p:nvSpPr>
        <p:spPr>
          <a:xfrm>
            <a:off x="500000" y="4140000"/>
            <a:ext cx="950000" cy="75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Блок под фото команды"/>
          <p:cNvSpPr/>
          <p:nvPr/>
        </p:nvSpPr>
        <p:spPr>
          <a:xfrm>
            <a:off x="0" y="335267"/>
            <a:ext cx="6456363" cy="3214733"/>
          </a:xfrm>
          <a:prstGeom prst="rect">
            <a:avLst/>
          </a:prstGeom>
          <a:gradFill rotWithShape="1">
            <a:gsLst>
              <a:gs pos="0">
                <a:srgbClr val="EEE6F4"/>
              </a:gs>
              <a:gs pos="100000">
                <a:srgbClr val="D9C9E8"/>
              </a:gs>
            </a:gsLst>
            <a:lin ang="2700000" scaled="0"/>
          </a:gradFill>
          <a:ln>
            <a:noFill/>
          </a:ln>
        </p:spPr>
        <p:txBody>
          <a:bodyPr wrap="square" lIns="500000" tIns="0" rIns="0" bIns="280000" rtlCol="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dirty="0" spc="200">
                <a:solidFill>
                  <a:srgbClr val="8A83D1"/>
                </a:solidFill>
              </a:rPr>
              <a:t>ФОТО КОМАНДЫ</a:t>
            </a:r>
            <a:endParaRPr lang="ru-RU" sz="12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3550000"/>
            <a:ext cx="6456363" cy="33080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20000" y="1740000"/>
            <a:ext cx="5000000" cy="3800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chemeClr val="accent5"/>
                </a:solidFill>
              </a:rPr>
              <a:t>Краткое описание решения</a:t>
            </a:r>
            <a:endParaRPr lang="ru-RU" sz="1700" dirty="0"/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20000" y="4700000"/>
            <a:ext cx="5000000" cy="16500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250" b="0" i="0" dirty="0">
                <a:solidFill>
                  <a:srgbClr val="1C1D22"/>
                </a:solidFill>
              </a:rPr>
              <a:t>Проверена строго вперёд по времени на </a:t>
            </a:r>
            <a:r>
              <a:rPr lang="ru-RU" sz="1250" b="1" i="0" dirty="0">
                <a:solidFill>
                  <a:schemeClr val="accent5"/>
                </a:solidFill>
              </a:rPr>
              <a:t>21 неделе</a:t>
            </a:r>
            <a:r>
              <a:rPr lang="ru-RU" sz="1250" b="0" i="0" dirty="0">
                <a:solidFill>
                  <a:srgbClr val="1C1D22"/>
                </a:solidFill>
              </a:rPr>
              <a:t> реального журнала 2026 г.:</a:t>
            </a:r>
            <a:br>
              <a:rPr lang="ru-RU" sz="1250" dirty="0"/>
            </a:br>
            <a:r>
              <a:rPr lang="ru-RU" sz="1250" b="1" i="0" dirty="0">
                <a:solidFill>
                  <a:schemeClr val="accent5"/>
                </a:solidFill>
              </a:rPr>
              <a:t>ROC-AUC 0,84 (с дообучением)</a:t>
            </a:r>
            <a:r>
              <a:rPr lang="ru-RU" sz="1250" b="0" i="0" dirty="0">
                <a:solidFill>
                  <a:srgbClr val="1C1D22"/>
                </a:solidFill>
              </a:rPr>
              <a:t>, точность топ-100 — </a:t>
            </a:r>
            <a:r>
              <a:rPr lang="ru-RU" sz="1250" b="1" i="0" dirty="0">
                <a:solidFill>
                  <a:schemeClr val="accent5"/>
                </a:solidFill>
              </a:rPr>
              <a:t>38 %</a:t>
            </a:r>
            <a:r>
              <a:rPr lang="ru-RU" sz="1250" b="0" i="0" dirty="0">
                <a:solidFill>
                  <a:srgbClr val="1C1D22"/>
                </a:solidFill>
              </a:rPr>
              <a:t> (в 29 раз выше случайной)</a:t>
            </a:r>
            <a:endParaRPr lang="ru-RU" sz="1250" dirty="0"/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250" b="0" i="0" dirty="0">
                <a:solidFill>
                  <a:srgbClr val="1C1D22"/>
                </a:solidFill>
              </a:rPr>
              <a:t>Еженедельное дообучение — задача пилота (проверено бэктестом); без него модель в стенде слабее простого </a:t>
            </a:r>
            <a:r>
              <a:rPr lang="ru-RU" sz="1250" b="1" i="0" dirty="0">
                <a:solidFill>
                  <a:schemeClr val="accent5"/>
                </a:solidFill>
              </a:rPr>
              <a:t>правила</a:t>
            </a:r>
            <a:endParaRPr lang="ru-RU" sz="1250" dirty="0"/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250" b="0" i="0" dirty="0">
                <a:solidFill>
                  <a:srgbClr val="1C1D22"/>
                </a:solidFill>
              </a:rPr>
              <a:t>Весь парк пересчитывается за </a:t>
            </a:r>
            <a:r>
              <a:rPr lang="ru-RU" sz="1250" b="1" i="0" dirty="0">
                <a:solidFill>
                  <a:schemeClr val="accent5"/>
                </a:solidFill>
              </a:rPr>
              <a:t>63 мс</a:t>
            </a:r>
            <a:endParaRPr lang="ru-RU" sz="1250" dirty="0"/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500000" y="4420000"/>
            <a:ext cx="5600000" cy="23000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400" b="1" i="0" dirty="0">
                <a:solidFill>
                  <a:schemeClr val="accent5"/>
                </a:solidFill>
              </a:rPr>
              <a:t>Капитан:</a:t>
            </a:r>
            <a:r>
              <a:rPr lang="ru-RU" sz="1400" b="0" i="0" dirty="0">
                <a:solidFill>
                  <a:srgbClr val="1C1D22"/>
                </a:solidFill>
              </a:rPr>
              <a:t> Сетрак Кульбикаян, информационная безопасность</a:t>
            </a:r>
            <a:endParaRPr lang="ru-RU" sz="1400" dirty="0"/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400" b="1" i="0" dirty="0">
                <a:solidFill>
                  <a:schemeClr val="accent5"/>
                </a:solidFill>
              </a:rPr>
              <a:t>Участников:</a:t>
            </a:r>
            <a:r>
              <a:rPr lang="ru-RU" sz="1400" b="0" i="0" dirty="0">
                <a:solidFill>
                  <a:srgbClr val="1C1D22"/>
                </a:solidFill>
              </a:rPr>
              <a:t> 2</a:t>
            </a:r>
            <a:endParaRPr lang="ru-RU" sz="1400" dirty="0"/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400" b="1" i="0" dirty="0">
                <a:solidFill>
                  <a:schemeClr val="accent5"/>
                </a:solidFill>
              </a:rPr>
              <a:t>О команде:</a:t>
            </a:r>
            <a:r>
              <a:rPr lang="ru-RU" sz="1400" b="0" i="0" dirty="0">
                <a:solidFill>
                  <a:srgbClr val="1C1D22"/>
                </a:solidFill>
              </a:rPr>
              <a:t> одногруппники, собрались под кейс ЛЦТ 2026</a:t>
            </a:r>
            <a:endParaRPr lang="ru-RU" sz="1400" dirty="0"/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400" b="1" i="0" dirty="0">
                <a:solidFill>
                  <a:schemeClr val="accent5"/>
                </a:solidFill>
              </a:rPr>
              <a:t>Учёба:</a:t>
            </a:r>
            <a:r>
              <a:rPr lang="ru-RU" sz="1400" b="0" i="0" dirty="0">
                <a:solidFill>
                  <a:srgbClr val="1C1D22"/>
                </a:solidFill>
              </a:rPr>
              <a:t> РКСИ, группа ИБТ-33</a:t>
            </a:r>
            <a:endParaRPr lang="ru-RU" sz="1400" dirty="0"/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400" b="1" i="0" dirty="0">
                <a:solidFill>
                  <a:schemeClr val="accent5"/>
                </a:solidFill>
              </a:rPr>
              <a:t>Город и регион:</a:t>
            </a:r>
            <a:r>
              <a:rPr lang="ru-RU" sz="1400" b="0" i="0" dirty="0">
                <a:solidFill>
                  <a:srgbClr val="1C1D22"/>
                </a:solidFill>
              </a:rPr>
              <a:t> Ростов-на-Дону, Ростовская область</a:t>
            </a:r>
            <a:endParaRPr lang="ru-RU" sz="1400" dirty="0"/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500000" y="3750000"/>
            <a:ext cx="4500000" cy="4200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chemeClr val="accent5"/>
                </a:solidFill>
              </a:rPr>
              <a:t>О команде</a:t>
            </a:r>
            <a:endParaRPr lang="ru-RU" sz="2000" dirty="0"/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0000" y="950000"/>
            <a:ext cx="5000000" cy="500000"/>
          </a:xfr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dirty="0">
                <a:solidFill>
                  <a:schemeClr val="accent5"/>
                </a:solidFill>
              </a:rPr>
              <a:t>КОМАНДА «VECTOR»</a:t>
            </a:r>
            <a:endParaRPr lang="ru-RU" sz="2400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20000" y="1620000"/>
            <a:ext cx="50000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20000" y="4150000"/>
            <a:ext cx="50000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500000" y="4270000"/>
            <a:ext cx="54500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20000" y="4270000"/>
            <a:ext cx="5000000" cy="3800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chemeClr val="accent5"/>
                </a:solidFill>
              </a:rPr>
              <a:t>Уникальность решения</a:t>
            </a:r>
            <a:endParaRPr lang="ru-RU" sz="1700" dirty="0"/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20000" y="2160000"/>
            <a:ext cx="5000000" cy="18500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C1D22"/>
                </a:solidFill>
              </a:rPr>
              <a:t>Сервис каждое утро ранжирует </a:t>
            </a:r>
            <a:r>
              <a:rPr lang="ru-RU" sz="1300" b="1" i="0" dirty="0">
                <a:solidFill>
                  <a:schemeClr val="accent5"/>
                </a:solidFill>
              </a:rPr>
              <a:t>11 485 каналов СМВУ</a:t>
            </a:r>
            <a:r>
              <a:rPr lang="ru-RU" sz="1300" b="0" i="0" dirty="0">
                <a:solidFill>
                  <a:srgbClr val="1C1D22"/>
                </a:solidFill>
              </a:rPr>
              <a:t> по вероятности инцидента в ближайшие </a:t>
            </a:r>
            <a:r>
              <a:rPr lang="ru-RU" sz="1300" b="1" i="0" dirty="0">
                <a:solidFill>
                  <a:schemeClr val="accent5"/>
                </a:solidFill>
              </a:rPr>
              <a:t>24–72 часа</a:t>
            </a:r>
            <a:r>
              <a:rPr lang="ru-RU" sz="1300" b="0" i="0" dirty="0">
                <a:solidFill>
                  <a:srgbClr val="1C1D22"/>
                </a:solidFill>
              </a:rPr>
              <a:t>, показывает их на карте, объясняет причину простыми словами и готовит </a:t>
            </a:r>
            <a:r>
              <a:rPr lang="ru-RU" sz="1300" b="1" i="0" dirty="0">
                <a:solidFill>
                  <a:schemeClr val="accent5"/>
                </a:solidFill>
              </a:rPr>
              <a:t>черновик заявки на ТО</a:t>
            </a:r>
            <a:r>
              <a:rPr lang="ru-RU" sz="1300" b="0" i="0" dirty="0">
                <a:solidFill>
                  <a:srgbClr val="1C1D22"/>
                </a:solidFill>
              </a:rPr>
              <a:t>.</a:t>
            </a:r>
            <a:endParaRPr lang="ru-RU" sz="1300" dirty="0"/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C1D22"/>
                </a:solidFill>
              </a:rPr>
              <a:t>Решение — ремонт, выезд или отбой — </a:t>
            </a:r>
            <a:r>
              <a:rPr lang="ru-RU" sz="1300" b="1" i="0" dirty="0">
                <a:solidFill>
                  <a:schemeClr val="accent5"/>
                </a:solidFill>
              </a:rPr>
              <a:t>за диспетчером</a:t>
            </a:r>
            <a:r>
              <a:rPr lang="ru-RU" sz="1300" b="0" i="0" dirty="0">
                <a:solidFill>
                  <a:srgbClr val="1C1D22"/>
                </a:solidFill>
              </a:rPr>
              <a:t>; оно записывается в журнал, на пилоте пойдёт в дообучение.</a:t>
            </a:r>
            <a:endParaRPr lang="ru-RU" sz="1300" dirty="0"/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  <p:sp>
        <p:nvSpPr>
          <p:cNvPr id="120" name="Акцент блока фото"/>
          <p:cNvSpPr/>
          <p:nvPr/>
        </p:nvSpPr>
        <p:spPr>
          <a:xfrm>
            <a:off x="0" y="335267"/>
            <a:ext cx="90000" cy="32147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3214733"/>
          </a:xfrm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65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650000" cy="620919"/>
          </a:xfrm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F2F2F2"/>
                </a:solidFill>
              </a:rPr>
              <a:t>КОМАНДА «VECTOR»</a:t>
            </a:r>
            <a:endParaRPr lang="ru-RU" sz="2000" dirty="0"/>
          </a:p>
        </p:txBody>
      </p:sp>
      <p:sp>
        <p:nvSpPr>
          <p:cNvPr id="168" name="Карточка Сетрак Кульбикаян"/>
          <p:cNvSpPr/>
          <p:nvPr/>
        </p:nvSpPr>
        <p:spPr>
          <a:xfrm>
            <a:off x="346076" y="1360000"/>
            <a:ext cx="5600000" cy="4900000"/>
          </a:xfrm>
          <a:prstGeom prst="roundRect">
            <a:avLst>
              <a:gd name="adj" fmla="val 5200"/>
            </a:avLst>
          </a:prstGeom>
          <a:solidFill>
            <a:schemeClr val="bg1"/>
          </a:solidFill>
          <a:ln>
            <a:noFill/>
          </a:ln>
          <a:effectLst>
            <a:outerShdw blurRad="254000" dist="76200" dir="5400000" algn="t" rotWithShape="0">
              <a:srgbClr val="000000">
                <a:alpha val="30000"/>
              </a:srgbClr>
            </a:outerShdw>
          </a:effectLst>
        </p:spPr>
        <p:txBody>
          <a:bodyPr rtlCol="0" anchor="ctr"/>
          <a:lstStyle/>
          <a:p>
            <a:endParaRPr lang="ru-RU"/>
          </a:p>
        </p:txBody>
      </p:sp>
      <p:sp>
        <p:nvSpPr>
          <p:cNvPr id="169" name="Аватар Сетрак Кульбикаян"/>
          <p:cNvSpPr/>
          <p:nvPr/>
        </p:nvSpPr>
        <p:spPr>
          <a:xfrm>
            <a:off x="666076" y="1680000"/>
            <a:ext cx="2000000" cy="25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chemeClr val="accent5"/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i="0" dirty="0">
                <a:solidFill>
                  <a:srgbClr val="F2F2F2"/>
                </a:solidFill>
              </a:rPr>
              <a:t>СК</a:t>
            </a:r>
            <a:endParaRPr lang="ru-RU" sz="5400" dirty="0"/>
          </a:p>
        </p:txBody>
      </p:sp>
      <p:sp>
        <p:nvSpPr>
          <p:cNvPr id="170" name="Фото Сетрак Кульбикаян"/>
          <p:cNvSpPr>
            <a:spLocks noGrp="1"/>
          </p:cNvSpPr>
          <p:nvPr>
            <p:ph type="pic" sz="quarter" idx="4294967295"/>
          </p:nvPr>
        </p:nvSpPr>
        <p:spPr>
          <a:xfrm>
            <a:off x="666076" y="1680000"/>
            <a:ext cx="2000000" cy="2550000"/>
          </a:xfrm>
          <a:prstGeom prst="roundRect">
            <a:avLst>
              <a:gd name="adj" fmla="val 8000"/>
            </a:avLst>
          </a:prstGeom>
        </p:spPr>
      </p:sp>
      <p:sp>
        <p:nvSpPr>
          <p:cNvPr id="171" name="Роль"/>
          <p:cNvSpPr/>
          <p:nvPr/>
        </p:nvSpPr>
        <p:spPr>
          <a:xfrm>
            <a:off x="2966076" y="1710000"/>
            <a:ext cx="1250000" cy="32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i="0" dirty="0" spc="100">
                <a:solidFill>
                  <a:schemeClr val="bg1"/>
                </a:solidFill>
              </a:rPr>
              <a:t>ТИМЛИД</a:t>
            </a:r>
            <a:endParaRPr lang="ru-RU" sz="1150" dirty="0"/>
          </a:p>
        </p:txBody>
      </p:sp>
      <p:sp>
        <p:nvSpPr>
          <p:cNvPr id="172" name="Имя"/>
          <p:cNvSpPr txBox="1"/>
          <p:nvPr/>
        </p:nvSpPr>
        <p:spPr>
          <a:xfrm>
            <a:off x="2966076" y="2180000"/>
            <a:ext cx="266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 i="0" dirty="0">
                <a:solidFill>
                  <a:schemeClr val="accent5"/>
                </a:solidFill>
              </a:rPr>
              <a:t>Сетрак Кульбикаян</a:t>
            </a:r>
            <a:endParaRPr lang="ru-RU" sz="2500" dirty="0"/>
          </a:p>
        </p:txBody>
      </p:sp>
      <p:sp>
        <p:nvSpPr>
          <p:cNvPr id="173" name="Telegram"/>
          <p:cNvSpPr txBox="1"/>
          <p:nvPr/>
        </p:nvSpPr>
        <p:spPr>
          <a:xfrm>
            <a:off x="2966076" y="3300000"/>
            <a:ext cx="266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 spc="60">
                <a:solidFill>
                  <a:srgbClr val="6E5C85"/>
                </a:solidFill>
              </a:rPr>
              <a:t>Telegram</a:t>
            </a:r>
            <a:endParaRPr lang="ru-RU" sz="1200" dirty="0"/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1C1D22"/>
                </a:solidFill>
              </a:rPr>
              <a:t>@qxhihi</a:t>
            </a:r>
            <a:endParaRPr lang="ru-RU" sz="1700" dirty="0"/>
          </a:p>
        </p:txBody>
      </p:sp>
      <p:sp>
        <p:nvSpPr>
          <p:cNvPr id="174" name="Разделитель"/>
          <p:cNvSpPr/>
          <p:nvPr/>
        </p:nvSpPr>
        <p:spPr>
          <a:xfrm>
            <a:off x="666076" y="4510000"/>
            <a:ext cx="4960000" cy="12700"/>
          </a:xfrm>
          <a:prstGeom prst="rect">
            <a:avLst/>
          </a:prstGeom>
          <a:solidFill>
            <a:srgbClr val="DCCEE4">
              <a:alpha val="100000"/>
            </a:srgbClr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5" name="Задачи"/>
          <p:cNvSpPr txBox="1"/>
          <p:nvPr/>
        </p:nvSpPr>
        <p:spPr>
          <a:xfrm>
            <a:off x="666076" y="4670000"/>
            <a:ext cx="496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i="0" dirty="0" spc="100">
                <a:solidFill>
                  <a:srgbClr val="6E5C85"/>
                </a:solidFill>
              </a:rPr>
              <a:t>ЗАДАЧИ В КОМАНДЕ</a:t>
            </a:r>
            <a:endParaRPr lang="ru-RU" sz="1100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1C1D22"/>
                </a:solidFill>
              </a:rPr>
              <a:t>ML-модель, бэкенд, интерфейс, деплой</a:t>
            </a:r>
            <a:endParaRPr lang="ru-RU" sz="1600" dirty="0"/>
          </a:p>
        </p:txBody>
      </p:sp>
      <p:sp>
        <p:nvSpPr>
          <p:cNvPr id="176" name="Учёба"/>
          <p:cNvSpPr txBox="1"/>
          <p:nvPr/>
        </p:nvSpPr>
        <p:spPr>
          <a:xfrm>
            <a:off x="666076" y="5530000"/>
            <a:ext cx="496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i="0" dirty="0" spc="100">
                <a:solidFill>
                  <a:srgbClr val="6E5C85"/>
                </a:solidFill>
              </a:rPr>
              <a:t>УЧЁБА</a:t>
            </a:r>
            <a:endParaRPr lang="ru-RU" sz="1100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1C1D22"/>
                </a:solidFill>
              </a:rPr>
              <a:t>Информационная безопасность, РКСИ, ИБТ-33</a:t>
            </a:r>
            <a:endParaRPr lang="ru-RU" sz="1600" dirty="0"/>
          </a:p>
        </p:txBody>
      </p:sp>
      <p:sp>
        <p:nvSpPr>
          <p:cNvPr id="177" name="Карточка Богдан Кузниченко"/>
          <p:cNvSpPr/>
          <p:nvPr/>
        </p:nvSpPr>
        <p:spPr>
          <a:xfrm>
            <a:off x="6245924" y="1360000"/>
            <a:ext cx="5600000" cy="4900000"/>
          </a:xfrm>
          <a:prstGeom prst="roundRect">
            <a:avLst>
              <a:gd name="adj" fmla="val 5200"/>
            </a:avLst>
          </a:prstGeom>
          <a:solidFill>
            <a:schemeClr val="bg1"/>
          </a:solidFill>
          <a:ln>
            <a:noFill/>
          </a:ln>
          <a:effectLst>
            <a:outerShdw blurRad="254000" dist="76200" dir="5400000" algn="t" rotWithShape="0">
              <a:srgbClr val="000000">
                <a:alpha val="30000"/>
              </a:srgbClr>
            </a:outerShdw>
          </a:effectLst>
        </p:spPr>
        <p:txBody>
          <a:bodyPr rtlCol="0" anchor="ctr"/>
          <a:lstStyle/>
          <a:p>
            <a:endParaRPr lang="ru-RU"/>
          </a:p>
        </p:txBody>
      </p:sp>
      <p:sp>
        <p:nvSpPr>
          <p:cNvPr id="178" name="Аватар Богдан Кузниченко"/>
          <p:cNvSpPr/>
          <p:nvPr/>
        </p:nvSpPr>
        <p:spPr>
          <a:xfrm>
            <a:off x="6565924" y="1680000"/>
            <a:ext cx="2000000" cy="25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chemeClr val="accent5"/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i="0" dirty="0">
                <a:solidFill>
                  <a:srgbClr val="F2F2F2"/>
                </a:solidFill>
              </a:rPr>
              <a:t>БК</a:t>
            </a:r>
            <a:endParaRPr lang="ru-RU" sz="5400" dirty="0"/>
          </a:p>
        </p:txBody>
      </p:sp>
      <p:sp>
        <p:nvSpPr>
          <p:cNvPr id="179" name="Фото Богдан Кузниченко"/>
          <p:cNvSpPr>
            <a:spLocks noGrp="1"/>
          </p:cNvSpPr>
          <p:nvPr>
            <p:ph type="pic" sz="quarter" idx="4294967295"/>
          </p:nvPr>
        </p:nvSpPr>
        <p:spPr>
          <a:xfrm>
            <a:off x="6565924" y="1680000"/>
            <a:ext cx="2000000" cy="2550000"/>
          </a:xfrm>
          <a:prstGeom prst="roundRect">
            <a:avLst>
              <a:gd name="adj" fmla="val 8000"/>
            </a:avLst>
          </a:prstGeom>
        </p:spPr>
      </p:sp>
      <p:sp>
        <p:nvSpPr>
          <p:cNvPr id="180" name="Роль"/>
          <p:cNvSpPr/>
          <p:nvPr/>
        </p:nvSpPr>
        <p:spPr>
          <a:xfrm>
            <a:off x="8865924" y="1710000"/>
            <a:ext cx="1500000" cy="32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i="0" dirty="0" spc="100">
                <a:solidFill>
                  <a:schemeClr val="bg1"/>
                </a:solidFill>
              </a:rPr>
              <a:t>АНАЛИТИК</a:t>
            </a:r>
            <a:endParaRPr lang="ru-RU" sz="1150" dirty="0"/>
          </a:p>
        </p:txBody>
      </p:sp>
      <p:sp>
        <p:nvSpPr>
          <p:cNvPr id="181" name="Имя"/>
          <p:cNvSpPr txBox="1"/>
          <p:nvPr/>
        </p:nvSpPr>
        <p:spPr>
          <a:xfrm>
            <a:off x="8865924" y="2180000"/>
            <a:ext cx="266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 i="0" dirty="0">
                <a:solidFill>
                  <a:schemeClr val="accent5"/>
                </a:solidFill>
              </a:rPr>
              <a:t>Богдан Кузниченко</a:t>
            </a:r>
            <a:endParaRPr lang="ru-RU" sz="2500" dirty="0"/>
          </a:p>
        </p:txBody>
      </p:sp>
      <p:sp>
        <p:nvSpPr>
          <p:cNvPr id="182" name="Telegram"/>
          <p:cNvSpPr txBox="1"/>
          <p:nvPr/>
        </p:nvSpPr>
        <p:spPr>
          <a:xfrm>
            <a:off x="8865924" y="3300000"/>
            <a:ext cx="266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 spc="60">
                <a:solidFill>
                  <a:srgbClr val="6E5C85"/>
                </a:solidFill>
              </a:rPr>
              <a:t>Telegram</a:t>
            </a:r>
            <a:endParaRPr lang="ru-RU" sz="1200" dirty="0"/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1C1D22"/>
                </a:solidFill>
              </a:rPr>
              <a:t>@Mister_Petrovich</a:t>
            </a:r>
            <a:endParaRPr lang="ru-RU" sz="1700" dirty="0"/>
          </a:p>
        </p:txBody>
      </p:sp>
      <p:sp>
        <p:nvSpPr>
          <p:cNvPr id="183" name="Разделитель"/>
          <p:cNvSpPr/>
          <p:nvPr/>
        </p:nvSpPr>
        <p:spPr>
          <a:xfrm>
            <a:off x="6565924" y="4510000"/>
            <a:ext cx="4960000" cy="12700"/>
          </a:xfrm>
          <a:prstGeom prst="rect">
            <a:avLst/>
          </a:prstGeom>
          <a:solidFill>
            <a:srgbClr val="DCCEE4">
              <a:alpha val="100000"/>
            </a:srgbClr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84" name="Задачи"/>
          <p:cNvSpPr txBox="1"/>
          <p:nvPr/>
        </p:nvSpPr>
        <p:spPr>
          <a:xfrm>
            <a:off x="6565924" y="4670000"/>
            <a:ext cx="496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i="0" dirty="0" spc="100">
                <a:solidFill>
                  <a:srgbClr val="6E5C85"/>
                </a:solidFill>
              </a:rPr>
              <a:t>ЗАДАЧИ В КОМАНДЕ</a:t>
            </a:r>
            <a:endParaRPr lang="ru-RU" sz="1100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1C1D22"/>
                </a:solidFill>
              </a:rPr>
              <a:t>Сценарии диспетчера по ТЗ, тестирование</a:t>
            </a:r>
            <a:endParaRPr lang="ru-RU" sz="1600" dirty="0"/>
          </a:p>
        </p:txBody>
      </p:sp>
      <p:sp>
        <p:nvSpPr>
          <p:cNvPr id="185" name="Учёба"/>
          <p:cNvSpPr txBox="1"/>
          <p:nvPr/>
        </p:nvSpPr>
        <p:spPr>
          <a:xfrm>
            <a:off x="6565924" y="5530000"/>
            <a:ext cx="496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i="0" dirty="0" spc="100">
                <a:solidFill>
                  <a:srgbClr val="6E5C85"/>
                </a:solidFill>
              </a:rPr>
              <a:t>УЧЁБА</a:t>
            </a:r>
            <a:endParaRPr lang="ru-RU" sz="1100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1C1D22"/>
                </a:solidFill>
              </a:rPr>
              <a:t>Информационная безопасность, РКСИ, ИБТ-33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65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650000" cy="620919"/>
          </a:xfrm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F2F2F2"/>
                </a:solidFill>
              </a:rPr>
              <a:t>КОМАНДА «VECTOR»</a:t>
            </a:r>
            <a:endParaRPr lang="ru-RU" sz="2000" dirty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560000"/>
            <a:ext cx="11233150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3720000"/>
            <a:ext cx="11233150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200000"/>
            <a:ext cx="11233150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5" name="Номер 1"/>
          <p:cNvSpPr txBox="1"/>
          <p:nvPr/>
        </p:nvSpPr>
        <p:spPr>
          <a:xfrm>
            <a:off x="10957038" y="1300000"/>
            <a:ext cx="9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dirty="0">
                <a:solidFill>
                  <a:schemeClr val="accent1"/>
                </a:solidFill>
              </a:rPr>
              <a:t>01</a:t>
            </a:r>
            <a:endParaRPr lang="ru-RU" sz="2400" dirty="0"/>
          </a:p>
        </p:txBody>
      </p:sp>
      <p:sp>
        <p:nvSpPr>
          <p:cNvPr id="146" name="Номер 2"/>
          <p:cNvSpPr txBox="1"/>
          <p:nvPr/>
        </p:nvSpPr>
        <p:spPr>
          <a:xfrm>
            <a:off x="10957038" y="2660000"/>
            <a:ext cx="9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dirty="0">
                <a:solidFill>
                  <a:schemeClr val="accent1"/>
                </a:solidFill>
              </a:rPr>
              <a:t>02</a:t>
            </a:r>
            <a:endParaRPr lang="ru-RU" sz="2400" dirty="0"/>
          </a:p>
        </p:txBody>
      </p:sp>
      <p:sp>
        <p:nvSpPr>
          <p:cNvPr id="147" name="Номер 3"/>
          <p:cNvSpPr txBox="1"/>
          <p:nvPr/>
        </p:nvSpPr>
        <p:spPr>
          <a:xfrm>
            <a:off x="10957038" y="3820000"/>
            <a:ext cx="9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dirty="0">
                <a:solidFill>
                  <a:schemeClr val="accent1"/>
                </a:solidFill>
              </a:rPr>
              <a:t>03</a:t>
            </a:r>
            <a:endParaRPr lang="ru-RU" sz="2400" dirty="0"/>
          </a:p>
        </p:txBody>
      </p:sp>
      <p:sp>
        <p:nvSpPr>
          <p:cNvPr id="148" name="История"/>
          <p:cNvSpPr txBox="1"/>
          <p:nvPr/>
        </p:nvSpPr>
        <p:spPr>
          <a:xfrm>
            <a:off x="533607" y="1300000"/>
            <a:ext cx="9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dirty="0">
                <a:solidFill>
                  <a:schemeClr val="accent5"/>
                </a:solidFill>
              </a:rPr>
              <a:t>Краткая история команды</a:t>
            </a:r>
            <a:endParaRPr lang="ru-RU" sz="1800" dirty="0"/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50" b="0" i="0" dirty="0">
                <a:solidFill>
                  <a:srgbClr val="1C1D22"/>
                </a:solidFill>
              </a:rPr>
              <a:t>Мы одногруппники. На ЛЦТ 2026 пошли вдвоём: Сетрак вёл разработку целиком — от разбора журнала СМВУ до модели, API и интерфейса, Богдан — сценарии диспетчера и тестирование.</a:t>
            </a:r>
            <a:endParaRPr lang="ru-RU" sz="1450" dirty="0"/>
          </a:p>
        </p:txBody>
      </p:sp>
      <p:sp>
        <p:nvSpPr>
          <p:cNvPr id="149" name="Почему"/>
          <p:cNvSpPr txBox="1"/>
          <p:nvPr/>
        </p:nvSpPr>
        <p:spPr>
          <a:xfrm>
            <a:off x="533607" y="2660000"/>
            <a:ext cx="96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dirty="0">
                <a:solidFill>
                  <a:schemeClr val="accent5"/>
                </a:solidFill>
              </a:rPr>
              <a:t>Почему мы выбрали эту задачу</a:t>
            </a:r>
            <a:endParaRPr lang="ru-RU" sz="1800" dirty="0"/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50" b="0" i="0" dirty="0">
                <a:solidFill>
                  <a:srgbClr val="1C1D22"/>
                </a:solidFill>
              </a:rPr>
              <a:t>Реальные данные городской инфраструктуры и понятный эффект — меньше внезапных аварий и лишних выездов бригад.</a:t>
            </a:r>
            <a:endParaRPr lang="ru-RU" sz="1450" dirty="0"/>
          </a:p>
        </p:txBody>
      </p:sp>
      <p:sp>
        <p:nvSpPr>
          <p:cNvPr id="150" name="Сложности"/>
          <p:cNvSpPr txBox="1"/>
          <p:nvPr/>
        </p:nvSpPr>
        <p:spPr>
          <a:xfrm>
            <a:off x="533607" y="3820000"/>
            <a:ext cx="96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dirty="0">
                <a:solidFill>
                  <a:schemeClr val="accent5"/>
                </a:solidFill>
              </a:rPr>
              <a:t>Основные сложности и как мы их преодолели</a:t>
            </a:r>
            <a:endParaRPr lang="ru-RU" sz="1800" dirty="0"/>
          </a:p>
        </p:txBody>
      </p:sp>
      <p:sp>
        <p:nvSpPr>
          <p:cNvPr id="151" name="Карточка сложности 1"/>
          <p:cNvSpPr/>
          <p:nvPr/>
        </p:nvSpPr>
        <p:spPr>
          <a:xfrm>
            <a:off x="623888" y="4320000"/>
            <a:ext cx="3577716" cy="1950000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DCCEE4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2" name="Номер сложности 1"/>
          <p:cNvSpPr/>
          <p:nvPr/>
        </p:nvSpPr>
        <p:spPr>
          <a:xfrm>
            <a:off x="863888" y="4540000"/>
            <a:ext cx="420000" cy="4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chemeClr val="bg1"/>
                </a:solidFill>
              </a:rPr>
              <a:t>1</a:t>
            </a:r>
            <a:endParaRPr lang="ru-RU" sz="1500" dirty="0"/>
          </a:p>
        </p:txBody>
      </p:sp>
      <p:sp>
        <p:nvSpPr>
          <p:cNvPr id="153" name="Текст сложности 1"/>
          <p:cNvSpPr txBox="1"/>
          <p:nvPr/>
        </p:nvSpPr>
        <p:spPr>
          <a:xfrm>
            <a:off x="863888" y="5080000"/>
            <a:ext cx="3097716" cy="10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C1D22"/>
                </a:solidFill>
              </a:rPr>
              <a:t>В данных нет актов ремонтов — разметили события по журналу СМВУ (неисправности, сбои связи, опасные газ и температура).</a:t>
            </a:r>
            <a:endParaRPr lang="ru-RU" sz="1300" dirty="0"/>
          </a:p>
        </p:txBody>
      </p:sp>
      <p:sp>
        <p:nvSpPr>
          <p:cNvPr id="154" name="Карточка сложности 2"/>
          <p:cNvSpPr/>
          <p:nvPr/>
        </p:nvSpPr>
        <p:spPr>
          <a:xfrm>
            <a:off x="4451604" y="4320000"/>
            <a:ext cx="3577716" cy="1950000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DCCEE4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5" name="Номер сложности 2"/>
          <p:cNvSpPr/>
          <p:nvPr/>
        </p:nvSpPr>
        <p:spPr>
          <a:xfrm>
            <a:off x="4691604" y="4540000"/>
            <a:ext cx="420000" cy="4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chemeClr val="bg1"/>
                </a:solidFill>
              </a:rPr>
              <a:t>2</a:t>
            </a:r>
            <a:endParaRPr lang="ru-RU" sz="1500" dirty="0"/>
          </a:p>
        </p:txBody>
      </p:sp>
      <p:sp>
        <p:nvSpPr>
          <p:cNvPr id="156" name="Текст сложности 2"/>
          <p:cNvSpPr txBox="1"/>
          <p:nvPr/>
        </p:nvSpPr>
        <p:spPr>
          <a:xfrm>
            <a:off x="4691604" y="5080000"/>
            <a:ext cx="3097716" cy="10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C1D22"/>
                </a:solidFill>
              </a:rPr>
              <a:t>Событий ~1,3 % — оцениваем</a:t>
            </a:r>
            <a:br>
              <a:rPr lang="ru-RU" sz="1300" dirty="0"/>
            </a:br>
            <a:r>
              <a:rPr lang="ru-RU" sz="1300" b="0" i="0" dirty="0">
                <a:solidFill>
                  <a:srgbClr val="1C1D22"/>
                </a:solidFill>
              </a:rPr>
              <a:t>PR-AUC и точность топ-K, а не accuracy.</a:t>
            </a:r>
            <a:endParaRPr lang="ru-RU" sz="1300" dirty="0"/>
          </a:p>
        </p:txBody>
      </p:sp>
      <p:sp>
        <p:nvSpPr>
          <p:cNvPr id="157" name="Карточка сложности 3"/>
          <p:cNvSpPr/>
          <p:nvPr/>
        </p:nvSpPr>
        <p:spPr>
          <a:xfrm>
            <a:off x="8279320" y="4320000"/>
            <a:ext cx="3577716" cy="1950000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DCCEE4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8" name="Номер сложности 3"/>
          <p:cNvSpPr/>
          <p:nvPr/>
        </p:nvSpPr>
        <p:spPr>
          <a:xfrm>
            <a:off x="8519320" y="4540000"/>
            <a:ext cx="420000" cy="4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chemeClr val="bg1"/>
                </a:solidFill>
              </a:rPr>
              <a:t>3</a:t>
            </a:r>
            <a:endParaRPr lang="ru-RU" sz="1500" dirty="0"/>
          </a:p>
        </p:txBody>
      </p:sp>
      <p:sp>
        <p:nvSpPr>
          <p:cNvPr id="159" name="Текст сложности 3"/>
          <p:cNvSpPr txBox="1"/>
          <p:nvPr/>
        </p:nvSpPr>
        <p:spPr>
          <a:xfrm>
            <a:off x="8519320" y="5080000"/>
            <a:ext cx="3097716" cy="10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C1D22"/>
                </a:solidFill>
              </a:rPr>
              <a:t>Журнал 30,7 млн строк не отсортирован по времени — сортируем и проверяем модель на 21 неделе строго вперёд по времени.</a:t>
            </a:r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85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25924" y="1300000"/>
            <a:ext cx="5620000" cy="4950000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0" dist="76200" dir="5400000" algn="t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300000"/>
            <a:ext cx="5620000" cy="4950000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0" dist="76200" dir="5400000" algn="t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850000" cy="620919"/>
          </a:xfrm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F2F2F2"/>
                </a:solidFill>
              </a:rPr>
              <a:t>КОРОТКО О РЕШЕНИИ</a:t>
            </a:r>
            <a:endParaRPr lang="ru-RU" sz="2000" dirty="0"/>
          </a:p>
        </p:txBody>
      </p:sp>
      <p:sp>
        <p:nvSpPr>
          <p:cNvPr id="128" name="Техническая суть решения"/>
          <p:cNvSpPr txBox="1"/>
          <p:nvPr/>
        </p:nvSpPr>
        <p:spPr>
          <a:xfrm>
            <a:off x="706076" y="1600000"/>
            <a:ext cx="4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dirty="0">
                <a:solidFill>
                  <a:schemeClr val="accent5"/>
                </a:solidFill>
              </a:rPr>
              <a:t>Техническая суть решения</a:t>
            </a:r>
            <a:endParaRPr lang="ru-RU" sz="2200" dirty="0"/>
          </a:p>
        </p:txBody>
      </p:sp>
      <p:sp>
        <p:nvSpPr>
          <p:cNvPr id="129" name="Акцент"/>
          <p:cNvSpPr/>
          <p:nvPr/>
        </p:nvSpPr>
        <p:spPr>
          <a:xfrm>
            <a:off x="706076" y="2160000"/>
            <a:ext cx="600000" cy="55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0" name="Техническая суть решения — текст"/>
          <p:cNvSpPr txBox="1"/>
          <p:nvPr/>
        </p:nvSpPr>
        <p:spPr>
          <a:xfrm>
            <a:off x="706076" y="2420000"/>
            <a:ext cx="4900000" cy="3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600" b="0" i="0" dirty="0">
                <a:solidFill>
                  <a:srgbClr val="1C1D22"/>
                </a:solidFill>
              </a:rPr>
              <a:t>LightGBM по </a:t>
            </a:r>
            <a:r>
              <a:rPr lang="ru-RU" sz="1600" b="1" i="0" dirty="0">
                <a:solidFill>
                  <a:schemeClr val="accent5"/>
                </a:solidFill>
              </a:rPr>
              <a:t>21 признаку</a:t>
            </a:r>
            <a:r>
              <a:rPr lang="ru-RU" sz="1600" b="0" i="0" dirty="0">
                <a:solidFill>
                  <a:srgbClr val="1C1D22"/>
                </a:solidFill>
              </a:rPr>
              <a:t> телеметрии (частота и тревоги, дребезг, молчание канала, сбросы часов, значения)</a:t>
            </a:r>
            <a:endParaRPr lang="ru-RU" sz="1600" dirty="0"/>
          </a:p>
          <a:p>
            <a:pPr marL="228600" indent="-2286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600" b="0" i="0" dirty="0">
                <a:solidFill>
                  <a:srgbClr val="1C1D22"/>
                </a:solidFill>
              </a:rPr>
              <a:t>Калибровка; еженедельное дообучение — на пилоте, </a:t>
            </a:r>
            <a:r>
              <a:rPr lang="ru-RU" sz="1600" b="1" i="0" dirty="0">
                <a:solidFill>
                  <a:schemeClr val="accent5"/>
                </a:solidFill>
              </a:rPr>
              <a:t>ROC-AUC 0,84</a:t>
            </a:r>
            <a:r>
              <a:rPr lang="ru-RU" sz="1600" b="0" i="0" dirty="0">
                <a:solidFill>
                  <a:srgbClr val="1C1D22"/>
                </a:solidFill>
              </a:rPr>
              <a:t>, топ-100 — </a:t>
            </a:r>
            <a:r>
              <a:rPr lang="ru-RU" sz="1600" b="1" i="0" dirty="0">
                <a:solidFill>
                  <a:schemeClr val="accent5"/>
                </a:solidFill>
              </a:rPr>
              <a:t>38 %</a:t>
            </a:r>
            <a:endParaRPr lang="ru-RU" sz="1600" dirty="0"/>
          </a:p>
          <a:p>
            <a:pPr marL="228600" indent="-2286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600" b="0" i="0" dirty="0">
                <a:solidFill>
                  <a:srgbClr val="1C1D22"/>
                </a:solidFill>
              </a:rPr>
              <a:t>REST API (FastAPI, Swagger) + React: карта рисков, очередь, карточка канала, заявки ТО, журнал решений с SHA-256</a:t>
            </a:r>
            <a:endParaRPr lang="ru-RU" sz="1600" dirty="0"/>
          </a:p>
          <a:p>
            <a:pPr marL="228600" indent="-2286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600" b="0" i="0" dirty="0">
                <a:solidFill>
                  <a:srgbClr val="1C1D22"/>
                </a:solidFill>
              </a:rPr>
              <a:t>Пересчёт </a:t>
            </a:r>
            <a:r>
              <a:rPr lang="ru-RU" sz="1600" b="1" i="0" dirty="0">
                <a:solidFill>
                  <a:schemeClr val="accent5"/>
                </a:solidFill>
              </a:rPr>
              <a:t>11 485 каналов за 63 мс</a:t>
            </a:r>
            <a:r>
              <a:rPr lang="ru-RU" sz="1600" b="0" i="0" dirty="0">
                <a:solidFill>
                  <a:srgbClr val="1C1D22"/>
                </a:solidFill>
              </a:rPr>
              <a:t> (норматив 300 с), Docker, публичный стенд</a:t>
            </a:r>
            <a:endParaRPr lang="ru-RU" sz="1600" dirty="0"/>
          </a:p>
        </p:txBody>
      </p:sp>
      <p:sp>
        <p:nvSpPr>
          <p:cNvPr id="131" name="Маркетинговая суть решения"/>
          <p:cNvSpPr txBox="1"/>
          <p:nvPr/>
        </p:nvSpPr>
        <p:spPr>
          <a:xfrm>
            <a:off x="6585924" y="1600000"/>
            <a:ext cx="4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dirty="0">
                <a:solidFill>
                  <a:schemeClr val="accent5"/>
                </a:solidFill>
              </a:rPr>
              <a:t>Маркетинговая суть решения</a:t>
            </a:r>
            <a:endParaRPr lang="ru-RU" sz="2200" dirty="0"/>
          </a:p>
        </p:txBody>
      </p:sp>
      <p:sp>
        <p:nvSpPr>
          <p:cNvPr id="132" name="Акцент"/>
          <p:cNvSpPr/>
          <p:nvPr/>
        </p:nvSpPr>
        <p:spPr>
          <a:xfrm>
            <a:off x="6585924" y="2160000"/>
            <a:ext cx="600000" cy="55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3" name="Маркетинговая суть решения — текст"/>
          <p:cNvSpPr txBox="1"/>
          <p:nvPr/>
        </p:nvSpPr>
        <p:spPr>
          <a:xfrm>
            <a:off x="6585924" y="2420000"/>
            <a:ext cx="4900000" cy="3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600" b="0" i="0" dirty="0">
                <a:solidFill>
                  <a:srgbClr val="1C1D22"/>
                </a:solidFill>
              </a:rPr>
              <a:t>Диспетчер узнаёт о вероятном инциденте </a:t>
            </a:r>
            <a:r>
              <a:rPr lang="ru-RU" sz="1600" b="1" i="0" dirty="0">
                <a:solidFill>
                  <a:schemeClr val="accent5"/>
                </a:solidFill>
              </a:rPr>
              <a:t>за 1–3 дня</a:t>
            </a:r>
            <a:r>
              <a:rPr lang="ru-RU" sz="1600" b="0" i="0" dirty="0">
                <a:solidFill>
                  <a:srgbClr val="1C1D22"/>
                </a:solidFill>
              </a:rPr>
              <a:t> и сразу получает черновик заявки</a:t>
            </a:r>
            <a:endParaRPr lang="ru-RU" sz="1600" dirty="0"/>
          </a:p>
          <a:p>
            <a:pPr marL="228600" indent="-2286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600" b="0" i="0" dirty="0">
                <a:solidFill>
                  <a:srgbClr val="1C1D22"/>
                </a:solidFill>
              </a:rPr>
              <a:t>Меньше внезапных аварий и лишних выездов</a:t>
            </a:r>
            <a:endParaRPr lang="ru-RU" sz="1600" dirty="0"/>
          </a:p>
          <a:p>
            <a:pPr marL="228600" indent="-2286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600" b="0" i="0" dirty="0">
                <a:solidFill>
                  <a:srgbClr val="1C1D22"/>
                </a:solidFill>
              </a:rPr>
              <a:t>Пилот: переобучение на актах ТОиР, </a:t>
            </a:r>
            <a:r>
              <a:rPr lang="ru-RU" sz="1600" b="1" i="0" dirty="0">
                <a:solidFill>
                  <a:schemeClr val="accent5"/>
                </a:solidFill>
              </a:rPr>
              <a:t>1–2 месяца</a:t>
            </a:r>
            <a:r>
              <a:rPr lang="ru-RU" sz="1600" b="0" i="0" dirty="0">
                <a:solidFill>
                  <a:srgbClr val="1C1D22"/>
                </a:solidFill>
              </a:rPr>
              <a:t> теневого режима рядом с ОДС, эффект по реальным выездам</a:t>
            </a:r>
            <a:endParaRPr lang="ru-RU" sz="1600" dirty="0"/>
          </a:p>
          <a:p>
            <a:pPr marL="228600" indent="-2286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600" b="0" i="0" dirty="0">
                <a:solidFill>
                  <a:srgbClr val="1C1D22"/>
                </a:solidFill>
              </a:rPr>
              <a:t>Далее интеграция с СМВУ и CMMS только на чтение, AD/LDAP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Широкоэкранный</PresentationFormat>
  <Slides>5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НейроКонтур — обязательные слайды ЛЦТ 2026 (команда Vector)</dc:title>
  <dc:creator>Команда Vector</dc:creator>
  <cp:lastModifiedBy>Команда Vector</cp:lastModifiedBy>
  <cp:revision>1</cp:revision>
  <dcterms:created xsi:type="dcterms:W3CDTF">2023-05-15T07:36:23Z</dcterms:created>
  <dcterms:modified xsi:type="dcterms:W3CDTF">2026-09-14T11:14:59Z</dcterms:modified>
</cp:coreProperties>
</file>