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65" r:id="rId15"/>
    <p:sldId id="366" r:id="rId16"/>
    <p:sldId id="362" r:id="rId17"/>
    <p:sldId id="364" r:id="rId18"/>
    <p:sldId id="375" r:id="rId19"/>
  </p:sldIdLst>
  <p:sldSz cx="12192000" cy="6858000"/>
  <p:notesSz cx="6858000" cy="9144000"/>
  <p:embeddedFontLst>
    <p:embeddedFont>
      <p:font typeface="Montserrat" panose="00000500000000000000" pitchFamily="2" charset="-52"/>
      <p:regular r:id="rId22"/>
      <p:bold r:id="rId23"/>
      <p:italic r:id="rId24"/>
      <p:boldItalic r:id="rId25"/>
    </p:embeddedFont>
    <p:embeddedFont>
      <p:font typeface="Onest" pitchFamily="2" charset="0"/>
      <p:regular r:id="rId26"/>
      <p:bold r:id="rId27"/>
    </p:embeddedFont>
    <p:embeddedFont>
      <p:font typeface="Source Serif 4" panose="02040603050405020204" pitchFamily="18" charset="0"/>
      <p:regular r:id="rId28"/>
      <p:italic r:id="rId29"/>
    </p:embeddedFont>
  </p:embeddedFontLst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/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Relationships xmlns="http://schemas.openxmlformats.org/package/2006/relationships"><Relationship Id="rIdChartSnapshot1" Type="http://schemas.openxmlformats.org/officeDocument/2006/relationships/package" Target="../embeddings/chart-data-snapshot-00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Результат</c:v>
          </c:tx>
          <c:spPr>
            <a:solidFill>
              <a:srgbClr val="2438E8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ABB1BC"/>
              </a:solidFill>
            </c:spPr>
            <c:extLst>
              <c:ext xmlns:c16="http://schemas.microsoft.com/office/drawing/2014/chart" uri="{C3380CC4-5D6E-409C-BE32-E72D297353CC}">
                <c16:uniqueId val="{00000001-BBAD-42B5-BF77-048D18B896AA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BBAD-42B5-BF77-048D18B896A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400" b="1">
                    <a:solidFill>
                      <a:srgbClr val="15171C"/>
                    </a:solidFill>
                    <a:latin typeface="Ones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Порог + дедупликация</c:v>
                </c:pt>
                <c:pt idx="1">
                  <c:v>НейроКонтур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535</c:v>
                </c:pt>
                <c:pt idx="1">
                  <c:v>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BAD-42B5-BF77-048D18B896A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5171C"/>
                </a:solidFill>
                <a:latin typeface="Onest"/>
              </a:defRPr>
            </a:pPr>
            <a:endParaRPr lang="ru-RU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620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Результат</c:v>
          </c:tx>
          <c:spPr>
            <a:solidFill>
              <a:srgbClr val="2438E8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AAB0BC"/>
              </a:solidFill>
            </c:spPr>
            <c:extLst>
              <c:ext xmlns:c16="http://schemas.microsoft.com/office/drawing/2014/chart" uri="{C3380CC4-5D6E-409C-BE32-E72D297353CC}">
                <c16:uniqueId val="{00000001-850D-4406-9335-7EBE6128412F}"/>
              </c:ext>
            </c:extLst>
          </c:dPt>
          <c:dPt>
            <c:idx val="1"/>
            <c:invertIfNegative val="0"/>
            <c:bubble3D val="0"/>
            <c:spPr>
              <a:solidFill>
                <a:srgbClr val="5D6370"/>
              </a:solidFill>
            </c:spPr>
            <c:extLst>
              <c:ext xmlns:c16="http://schemas.microsoft.com/office/drawing/2014/chart" uri="{C3380CC4-5D6E-409C-BE32-E72D297353CC}">
                <c16:uniqueId val="{00000003-850D-4406-9335-7EBE6128412F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50D-4406-9335-7EBE6128412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400" b="1">
                    <a:solidFill>
                      <a:srgbClr val="15171C"/>
                    </a:solidFill>
                    <a:latin typeface="Ones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Стенд сейчас</c:v>
                </c:pt>
                <c:pt idx="1">
                  <c:v>Простое правило</c:v>
                </c:pt>
                <c:pt idx="2">
                  <c:v>Модель с переобучением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22</c:v>
                </c:pt>
                <c:pt idx="1">
                  <c:v>38</c:v>
                </c:pt>
                <c:pt idx="2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50D-4406-9335-7EBE6128412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5171C"/>
                </a:solidFill>
                <a:latin typeface="Onest"/>
              </a:defRPr>
            </a:pPr>
            <a:endParaRPr lang="ru-RU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48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PR-AUC</c:v>
          </c:tx>
          <c:spPr>
            <a:solidFill>
              <a:srgbClr val="2438E8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AAB0BC"/>
              </a:solidFill>
            </c:spPr>
            <c:extLst>
              <c:ext xmlns:c16="http://schemas.microsoft.com/office/drawing/2014/chart" uri="{C3380CC4-5D6E-409C-BE32-E72D297353CC}">
                <c16:uniqueId val="{00000001-4D3E-4670-ABE0-B031B0799FCE}"/>
              </c:ext>
            </c:extLst>
          </c:dPt>
          <c:dPt>
            <c:idx val="1"/>
            <c:invertIfNegative val="0"/>
            <c:bubble3D val="0"/>
            <c:spPr>
              <a:solidFill>
                <a:srgbClr val="5D6370"/>
              </a:solidFill>
            </c:spPr>
            <c:extLst>
              <c:ext xmlns:c16="http://schemas.microsoft.com/office/drawing/2014/chart" uri="{C3380CC4-5D6E-409C-BE32-E72D297353CC}">
                <c16:uniqueId val="{00000003-4D3E-4670-ABE0-B031B0799FCE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D3E-4670-ABE0-B031B0799FCE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2250" b="1">
                    <a:solidFill>
                      <a:srgbClr val="15171C"/>
                    </a:solidFill>
                    <a:latin typeface="Onest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Data'!$A$2:$A$4</c:f>
              <c:strCache>
                <c:ptCount val="3"/>
                <c:pt idx="0">
                  <c:v>Стенд сейчас</c:v>
                </c:pt>
                <c:pt idx="1">
                  <c:v>Простое правило</c:v>
                </c:pt>
                <c:pt idx="2">
                  <c:v>С переобучением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0.142</c:v>
                </c:pt>
                <c:pt idx="1">
                  <c:v>0.181</c:v>
                </c:pt>
                <c:pt idx="2">
                  <c:v>0.274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D3E-4670-ABE0-B031B0799FC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15171C"/>
                </a:solidFill>
                <a:latin typeface="Onest"/>
              </a:defRPr>
            </a:pPr>
            <a:endParaRPr lang="ru-RU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34"/>
          <c:min val="0"/>
        </c:scaling>
        <c:delete val="1"/>
        <c:axPos val="b"/>
        <c:numFmt formatCode="General" sourceLinked="1"/>
        <c:majorTickMark val="none"/>
        <c:minorTickMark val="none"/>
        <c:tickLblPos val="nextTo"/>
        <c:crossAx val="48650112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ChartSnapshot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0:00–0:20. «Под Москвой 825 километров инженерных коллекторов. Датчики дают тысячи сигналов, а диспетчеру нужно понять, что проверить первым. НейроКонтур показывает риск, объясняет причину и помогает подготовить заявку».</a:t>
            </a:r>
          </a:p>
          <a:p>
            <a:r>
              <a:t>Источник масштаба: ТЗ §2 и реестр каналов из README.md. Иллюстрация города создана ImageGen, это образ инфраструктуры, не геоданные заказчика.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63883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0:20–0:40. «Разделили задачу на два горизонта. Быстрые правила разбирают газ, перегрев, затопление и потерю связи. Модель по истории канала помогает выбрать проверки на один–три дня вперёд. Оба слоя нужны одному диспетчеру. Покажу, как он работает».</a:t>
            </a:r>
          </a:p>
          <a:p>
            <a:r>
              <a:t>Правила — секунды и минуты, ML-цель — будущие события журнала в окне +24…+72 часа. На реальных авариях быстрый контур ещё не проверен. Источник: README.md, docs/SCENARIOS_SPEC.md, PROJECT_PASSPORT.md. Изображение ImageGen концептуальное, без измеренных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315839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0:40–2:40. ЖИВОЕ ДЕМО, 2 минуты. Слайд — понятный запасной экран при недоступном приложении.</a:t>
            </a:r>
          </a:p>
          <a:p>
            <a:r>
              <a:t>0:40–1:10: «Обстановка». Выбрать канал без решения. «Сверху — что проверить первым. В карточке — место и причины: например, дребезг контактов и сброс часов. Это признаки для проверки, а не доказанная авария». Не читать крупный процент как реальную вероятность физической аварии.</a:t>
            </a:r>
          </a:p>
          <a:p>
            <a:r>
              <a:t>1:10–1:30: «Запланировать ремонт», показать форму/черновик. «Сервис готовит заявку. Решение принимает диспетчер, оно сохраняется вместе с причиной».</a:t>
            </a:r>
          </a:p>
          <a:p>
            <a:r>
              <a:t>1:30–2:15: «Сценарии», заранее рассчитанная смена 42. «Покажу рост газа и потерю связи. Это синтетический полигон: проверяем раннее правило и обработку повторов». Говорить по состоянию экрана, не смешивать цифры смены 42 со средними отложенных наборов.</a:t>
            </a:r>
          </a:p>
          <a:p>
            <a:r>
              <a:t>2:15–2:40: вкладка роли техника «Поле». «У техника — объект, причина и понятное действие. Диспетчер сохраняет общую картину». Вернуться к слайдам.</a:t>
            </a:r>
          </a:p>
          <a:p>
            <a:r>
              <a:t>Если приложение не открылось: за 25 секунд пройти путь по слайду и продолжить к результатам. Не ждать хостинг.</a:t>
            </a:r>
          </a:p>
          <a:p>
            <a:r>
              <a:t>Источник изображения: скриншот работающего публичного стенда от 20.10.2026, данные — срез до 28.01.2026. Карта схематична. Увеличенный фрагмент — та же подлинная карточка.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096023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2:40–3:05. «На двадцати отложенных наборах быстрый контур дал в среднем 146 оповещений за сутки против 535 у порога с дедупликацией. Все 680 заложенных событий найдены. Это проверка логики на синтетике, а качество на реальных авариях предстоит проверить на пилоте».</a:t>
            </a:r>
          </a:p>
          <a:p>
            <a:r>
              <a:t>Единица у обоих вариантов — оповещение за сутки, не число инцидентов или выездов. Часть преимущества обусловлена построением теста: у базы нет правила потери связи, помехи заданы генератором. Seed 2000–2019, один прогон после фиксации логики. S8: 3 инцидента на событие в дневном режиме, классификация уставочного дребезга 12,5% в месячном режиме.</a:t>
            </a:r>
          </a:p>
          <a:p>
            <a:r>
              <a:t>Источник: docs/SCENARIOS_HELDOUT_RESULTS.json и README.md. Иллюстрация датчика — ImageGen, не фото оборудования заказчика.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687051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3:05–3:45. «Прогноз проверили на двадцати одной неделе реального журнала, строго вперёд по времени. Среди ста каналов списка у переобучаемой модели и простого правила по 38 совпадений с событиями журнала. Текущая модель стенда даёт 22. Поэтому еженедельное обучение — обязательная работа пилота.</a:t>
            </a:r>
          </a:p>
          <a:p>
            <a:r>
              <a:t>При этом 59 процентов событий происходят в каналах без сбоев за предыдущую неделю. Правило их не различает. Именно здесь модель нужна, но её качество ещё предстоит подтвердить по актам ремонтов».</a:t>
            </a:r>
          </a:p>
          <a:p>
            <a:r>
              <a:t>Все числа — медианы по одинаковым 21 неделе и 11 485 каналам. Метки — proxy-события журнала, а не подтверждённые физические аварии. В этой группе без недавних сбоев ROC-AUC переобучаемой модели 0,757, правила 0,500, но precision top-100 модели лишь 6%. По PR-AUC на всём реестре: 0,274 против 0,181 у правила, победа в 18 из 21 недели. В top-100 преимущество не установлено.</a:t>
            </a:r>
          </a:p>
          <a:p>
            <a:r>
              <a:t>Источник: backend/models/rolling_backtest_report.json, README.md. Объектная иллюстрация проверки журнала — ImageGen.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384732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3:45–4:25. «Начинаем с актов ТОиР: связываем прогнозы с исходами ремонтов. Затем один–два месяца работаем в тени — диспетчер ничего не меняет, мы сравниваем прогнозы и реальные события. После проверки переходим в режим советчика.</a:t>
            </a:r>
          </a:p>
          <a:p>
            <a:r>
              <a:t>Эффект измеряем по подтверждённым выездам и фактическим затратам. Для старта нужны журнал ОДС и акты ТОиР за двенадцать–двадцать четыре месяца. Подключение только на чтение, решение всегда за диспетчером».</a:t>
            </a:r>
          </a:p>
          <a:p>
            <a:r>
              <a:t>Это предлагаемый план, не завершённый или согласованный пилот. Требуются адаптеры СМВУ/CMMS, PostgreSQL, корпоративный вход и согласование требований безопасности. Условие прямой окупаемости вынесено в резервный слайд 8.</a:t>
            </a:r>
          </a:p>
          <a:p>
            <a:r>
              <a:t>Источник: docs/DATA_REQUEST_AND_PILOT_METHODOLOGY.md, PROJECT_PASSPORT.md. Иллюстрация этапов — ImageGen, экран в ней концептуальный и не является доказательством функций прототипа.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765759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4:25–4:35. «Стенд уже можно открыть по QR. Готовы проверить НейроКонтур на вашем участке. Спасибо, готовы к вопросам». Завершить показ на этом слайде.</a:t>
            </a:r>
          </a:p>
          <a:p>
            <a:r>
              <a:t>Если прервали по времени: «Стенд открыт по QR. Спасибо, готовы к вопросам».</a:t>
            </a:r>
          </a:p>
          <a:p>
            <a:r>
              <a:t>Стенд: https://moscollector-neurokontur.onrender.com . Код: https://sourcecraft.dev/lct-hackaton-2026/case-08-collector-outage-prediction-team-86 . Контакт: @qxhihi. Иллюстрация города создана ImageGen, не топология заказчика.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98731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РЕЗЕРВ ДЛЯ ВОПРОСОВ. «При сценарных ставках 3 200 рублей за осмотр и 18 500 за аварийный выезд доля осмотров, предотвращающих такой выезд, должна быть не ниже 17,3 процента. Это порог прямых затрат. Стоимость внедрения и сопровождения учитываем отдельно, реальные ставки и результат получаем на пилоте».</a:t>
            </a:r>
          </a:p>
          <a:p>
            <a:r>
              <a:t>Не приравнивать долю предотвращённых выездов к 22%/38% совпадений по журналу. Формула 3200 / 18500 = 0,17297. Тарифы не утверждены заказчиком, доказанной экономии нет. Источник: PROJECT_PASSPORT.md и методика ОПЭ §4.7.</a:t>
            </a:r>
          </a:p>
          <a:p>
            <a:endParaRPr/>
          </a:p>
          <a:p>
            <a:r>
              <a:t>Визуальная версия: Сравнение планового осмотра и аварийного выезда, крупные цены и порог 17,3%. Ставки сценарные. Изображения концептуальные, не реальная бригада.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9606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РЕЗЕРВ ДЛЯ ВОПРОСОВ. Модель с еженедельным переобучением лучше правила по ROC-AUC и PR-AUC в 18 из 21 недели, в топ-100 медианы равны 38%, в топ-200 медиана ниже 24% против 28%. Новые события: 2393 из 4027 = 59%, ROC-AUC 0,757, precision top-100 лишь 6%.</a:t>
            </a:r>
          </a:p>
          <a:p>
            <a:r>
              <a:t>О скорости: локальный скоринг 11 485 каналов по готовым признакам — 62,86 мс, P95 70,65 мс. Сбор потока, извлечение признаков и сеть в замер не входят.</a:t>
            </a:r>
          </a:p>
          <a:p>
            <a:r>
              <a:t>О внедрении: FastAPI, React, Docker, PIN с PBKDF2 и SHA-256 журнал работают. Адаптеры СМВУ/CMMS, PostgreSQL и AD/LDAP — пилот. Сертификация КИИ не заявляется.</a:t>
            </a:r>
          </a:p>
          <a:p>
            <a:r>
              <a:t>Источник: backend/models/rolling_backtest_report.json, metrics_report.json, README.md, PROJECT_PASSPORT.md.</a:t>
            </a:r>
          </a:p>
          <a:p>
            <a:endParaRPr/>
          </a:p>
          <a:p>
            <a:r>
              <a:t>Визуальная версия: Редактируемая диаграмма PR-AUC: 0,142 / 0,181 / 0,274. Медианы по 21 неделе. В топ-100 переобучаемая модель и правило равны 38%, текущая модель стенда 22%. Все полные метрики сохранены выше и в спиче.</a:t>
            </a:r>
          </a:p>
          <a:p>
            <a:r>
              <a:t>Полные медианы по 21 неделе (ROC-AUC / PR-AUC / точность топ-100):</a:t>
            </a:r>
          </a:p>
          <a:p>
            <a:r>
              <a:t>Стенд сейчас: 0,648 / 0,142 / 22%.</a:t>
            </a:r>
          </a:p>
          <a:p>
            <a:r>
              <a:t>Простое правило: 0,704 / 0,181 / 38%.</a:t>
            </a:r>
          </a:p>
          <a:p>
            <a:r>
              <a:t>Модель с еженедельным переобучением: 0,845 / 0,274 / 38%.</a:t>
            </a:r>
          </a:p>
          <a:p>
            <a:r>
              <a:t>В топ-100 преимущество переобучаемой модели над правилом не установлено. Метки — по будущим событиям журнала, не по актам ремонтов.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474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АВТОРСКАЯ ВЕРСИЯ слайда 8 из шаблона организаторов. Команда: два одногруппника РКСИ, ИБТ-33, Ростов-на-Дону. Капитан — Сетрак Кульбикаян, направление информационной безопасности. Описание: очередь проверок для 11 485 каналов, причины риска, черновик заявки, решение принимает диспетчер. Отличие: быстрые правила и ML на 24–72 часа, проверка на 21 неделе журнала. Еженедельное переобучение пока проверено только в бэктесте и входит в пилот. СМВУ/CMMS заказчика не подключены. Анонимные портреты созданы ImageGen, не фотографии участников. Этот слайд служит приложением и не увеличивает основной питч.</a:t>
            </a:r>
          </a:p>
          <a:p>
            <a:endParaRPr/>
          </a:p>
          <a:p>
            <a:r>
              <a:t>Визуальная версия: Путь от сигнала к причине и заявке. Иллюстрация концептуальная, функции подтверждаются настоящим экраном на слайде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936074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АВТОРСКАЯ ВЕРСИЯ слайда 9 из шаблона. Сетрак Кульбикаян: тимлид, модель, API, интерфейс и деплой, Telegram @qxhihi. Богдан Кузниченко: аналитик, сценарии диспетчера и тестирование, Telegram @Mister_Petrovich. Оба — РКСИ, ИБТ-33, Ростов-на-Дону. Телефоны не указываем по просьбе участников. Иллюстрации анонимные, созданы ImageGen, не реальные фотографии. Приложение для вопросов.</a:t>
            </a:r>
          </a:p>
          <a:p>
            <a:endParaRPr/>
          </a:p>
          <a:p>
            <a:r>
              <a:t>Визуальная версия: Профильные карточки с анонимными иллюстрациями и символами разработки, тестирования и контакта. Портреты не являются фотографиями участников.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04345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АВТОРСКАЯ ВЕРСИЯ слайда 10 из шаблона. Сохраняет три вопроса по смыслу: история команды, выбор задачи, сложности и работа с ними. История: одногруппники РКСИ, команда под кейс, распределение ролей. Мотивация: реальные данные городской инфраструктуры, планирование проверок и сокращение лишних выездов. Ограничения: нет актов ТОиР, редкие события, дрейф модели. Проверка по proxy-событиям журнала, сравнение с правилом по PR-AUC и топ-100, бэктест еженедельного переобучения на 21 неделе. Источники: README.md, PROJECT_PASSPORT.md, rolling_backtest_report.json. Приложение для вопросов.</a:t>
            </a:r>
          </a:p>
          <a:p>
            <a:endParaRPr/>
          </a:p>
          <a:p>
            <a:r>
              <a:t>Визуальная версия: Метафоры документов, сравнения и еженедельного обновления. Проверка выполнена по будущим событиям журнала. Акты ТОиР для физической валидации нужны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356615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АВТОРСКАЯ ВЕРСИЯ слайда 11 из шаблона. Две смысловые части: техническая и маркетинговая суть. LightGBM 21 признак, окно меток +24…+72 часа. Медианы PR-AUC на 21 неделе: переобучение 0,274, текущий стенд 0,142. Метки по событиям журнала, не подтверждённым физическим авариям. Локальный скоринг по готовым признакам всех 11 485 каналов 62,86 мс, P95 70,65 мс, без сборки признаков и сети. Функции прототипа: очередь, причины, черновики и журнал решений. Пилот по актам ТОиР, в тени, затем советчик. СМВУ подключается только на чтение, интеграций с живыми системами заказчика пока нет. Эффект нужно подтвердить по реальным выездам и затратам. Источники: README, PROJECT_PASSPORT, rolling_backtest_report, DATA_REQUEST_AND_PILOT_METHODOLOGY. Приложение для вопросов.</a:t>
            </a:r>
          </a:p>
          <a:p>
            <a:endParaRPr/>
          </a:p>
          <a:p>
            <a:r>
              <a:t>Визуальная версия: Две ветви: быстрые правила и прогноз LightGBM. Обе поддерживают очередь проверок и подготовку заявки. Штрихами на концептуальном мониторе не изображаются реальные показания.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94669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20.10.2026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20.10.2026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20.10.2026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20.10.2026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20.10.2026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20.10.2026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4" Type="http://schemas.openxmlformats.org/officeDocument/2006/relationships/chart" Target="../charts/char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766ECDC-B1B2-4069-87C9-2670FA3FC8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706554F-B0BE-4CF3-8666-AA71AFA1CE2B}"/>
              </a:ext>
            </a:extLst>
          </p:cNvPr>
          <p:cNvSpPr>
            <a:spLocks noGrp="1"/>
          </p:cNvSpPr>
          <p:nvPr/>
        </p:nvSpPr>
        <p:spPr>
          <a:xfrm>
            <a:off x="609600" y="581025"/>
            <a:ext cx="5429250" cy="333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350" b="0" i="0">
                <a:solidFill>
                  <a:srgbClr val="59616B"/>
                </a:solidFill>
              </a:defRPr>
            </a:pPr>
            <a:r>
              <a:rPr sz="1350" b="0" i="0">
                <a:solidFill>
                  <a:srgbClr val="59616B"/>
                </a:solidFill>
                <a:latin typeface="Onest"/>
                <a:ea typeface="Onest"/>
                <a:cs typeface="Onest"/>
              </a:rPr>
              <a:t>ЛЦТ 2026  /  ЗАДАЧА 8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A0BEBC2-29F3-4DD8-99EA-243F76B19AED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6810375" cy="1085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5850" b="0" i="0">
                <a:solidFill>
                  <a:srgbClr val="15171C"/>
                </a:solidFill>
              </a:defRPr>
            </a:pPr>
            <a:r>
              <a:rPr sz="58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НейроКонтур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057ECFA-1192-4CC3-B82B-D6EBC2F17586}"/>
              </a:ext>
            </a:extLst>
          </p:cNvPr>
          <p:cNvSpPr>
            <a:spLocks noGrp="1"/>
          </p:cNvSpPr>
          <p:nvPr/>
        </p:nvSpPr>
        <p:spPr>
          <a:xfrm>
            <a:off x="609600" y="2695575"/>
            <a:ext cx="4286250" cy="1162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217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2175" b="0" i="0">
                <a:solidFill>
                  <a:srgbClr val="15171C"/>
                </a:solidFill>
              </a:defRPr>
            </a:pPr>
            <a:r>
              <a:rPr sz="2175" b="0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Показываем диспетчеру,</a:t>
            </a:r>
          </a:p>
          <a:p>
            <a:pPr>
              <a:defRPr sz="2175" b="0" i="0">
                <a:solidFill>
                  <a:srgbClr val="15171C"/>
                </a:solidFill>
              </a:defRPr>
            </a:pPr>
            <a:r>
              <a:rPr sz="2175" b="0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что проверить заранее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1D758FE-3E69-4892-8C82-DE4B97D922DC}"/>
              </a:ext>
            </a:extLst>
          </p:cNvPr>
          <p:cNvSpPr>
            <a:spLocks noGrp="1"/>
          </p:cNvSpPr>
          <p:nvPr/>
        </p:nvSpPr>
        <p:spPr>
          <a:xfrm>
            <a:off x="609600" y="4410075"/>
            <a:ext cx="400050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217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2175" b="1" i="0">
                <a:solidFill>
                  <a:srgbClr val="2438E8"/>
                </a:solidFill>
              </a:defRPr>
            </a:pPr>
            <a:r>
              <a:rPr sz="2175" b="1" i="0">
                <a:solidFill>
                  <a:srgbClr val="2438E8"/>
                </a:solidFill>
                <a:latin typeface="Onest"/>
                <a:ea typeface="Onest"/>
                <a:cs typeface="Onest"/>
              </a:rPr>
              <a:t>11 485 каналов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96BA71B2-56CA-4A17-8A29-9A40A1D864DD}"/>
              </a:ext>
            </a:extLst>
          </p:cNvPr>
          <p:cNvSpPr>
            <a:spLocks noGrp="1"/>
          </p:cNvSpPr>
          <p:nvPr/>
        </p:nvSpPr>
        <p:spPr>
          <a:xfrm>
            <a:off x="609600" y="4914900"/>
            <a:ext cx="40957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725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0" i="0">
                <a:solidFill>
                  <a:srgbClr val="15171C"/>
                </a:solidFill>
              </a:defRPr>
            </a:pPr>
            <a:r>
              <a:rPr sz="1725" b="0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825 км коллекторов Москвы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B3FF895-0096-402D-B84D-2BA610199F7C}"/>
              </a:ext>
            </a:extLst>
          </p:cNvPr>
          <p:cNvSpPr>
            <a:spLocks noGrp="1"/>
          </p:cNvSpPr>
          <p:nvPr/>
        </p:nvSpPr>
        <p:spPr>
          <a:xfrm>
            <a:off x="609600" y="5962650"/>
            <a:ext cx="44767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350" b="0" i="0">
                <a:solidFill>
                  <a:srgbClr val="59616B"/>
                </a:solidFill>
              </a:defRPr>
            </a:pPr>
            <a:r>
              <a:rPr sz="1350" b="0" i="0">
                <a:solidFill>
                  <a:srgbClr val="59616B"/>
                </a:solidFill>
                <a:latin typeface="Onest"/>
                <a:ea typeface="Onest"/>
                <a:cs typeface="Onest"/>
              </a:rPr>
              <a:t>АО «Москоллектор»</a:t>
            </a:r>
          </a:p>
          <a:p>
            <a:pPr>
              <a:defRPr sz="1350" b="0" i="0">
                <a:solidFill>
                  <a:srgbClr val="59616B"/>
                </a:solidFill>
              </a:defRPr>
            </a:pPr>
            <a:r>
              <a:rPr sz="1350" b="0" i="0">
                <a:solidFill>
                  <a:srgbClr val="59616B"/>
                </a:solidFill>
                <a:latin typeface="Onest"/>
                <a:ea typeface="Onest"/>
                <a:cs typeface="Onest"/>
              </a:rPr>
              <a:t>Команда Vector</a:t>
            </a:r>
          </a:p>
        </p:txBody>
      </p:sp>
    </p:spTree>
    <p:extLst>
      <p:ext uri="{BB962C8B-B14F-4D97-AF65-F5344CB8AC3E}">
        <p14:creationId xmlns:p14="http://schemas.microsoft.com/office/powerpoint/2010/main" val="1697739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 thruBlk="1"/>
      </p:transition>
    </mc:Choice>
    <mc:Fallback xmlns="">
      <p:transition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CCB8A2-C21C-450F-955B-3A2A974A8D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C9F8770-CAB2-4E50-8F5A-5B88D4B93BD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600" b="0" i="0">
                <a:solidFill>
                  <a:srgbClr val="15171C"/>
                </a:solidFill>
              </a:defRPr>
            </a:pPr>
            <a:r>
              <a: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Сигнал сейчас. Проверка заранее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E651A2A-9CAB-4958-BA65-BCE53D12846B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 i="0">
                <a:solidFill>
                  <a:srgbClr val="15171C"/>
                </a:solidFill>
              </a:defRPr>
            </a:pPr>
            <a:r>
              <a:rPr sz="1650" b="0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Опасный сигнал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F3D2F77-42F4-402C-B999-47792B6E9B60}"/>
              </a:ext>
            </a:extLst>
          </p:cNvPr>
          <p:cNvSpPr>
            <a:spLocks noGrp="1"/>
          </p:cNvSpPr>
          <p:nvPr/>
        </p:nvSpPr>
        <p:spPr>
          <a:xfrm>
            <a:off x="590550" y="1771650"/>
            <a:ext cx="54292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4050" b="0" i="0">
                <a:solidFill>
                  <a:srgbClr val="2438E8"/>
                </a:solidFill>
              </a:defRPr>
            </a:pPr>
            <a:r>
              <a: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Сейчас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9F35BE0-5C87-476C-A9F0-4DFBD50570E1}"/>
              </a:ext>
            </a:extLst>
          </p:cNvPr>
          <p:cNvSpPr>
            <a:spLocks noGrp="1"/>
          </p:cNvSpPr>
          <p:nvPr/>
        </p:nvSpPr>
        <p:spPr>
          <a:xfrm>
            <a:off x="6762750" y="1381125"/>
            <a:ext cx="504825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 i="0">
                <a:solidFill>
                  <a:srgbClr val="15171C"/>
                </a:solidFill>
              </a:defRPr>
            </a:pPr>
            <a:r>
              <a:rPr sz="1650" b="0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Проверка оборудования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98C9AD5-54DA-412A-94CE-EDE60C5E7DD1}"/>
              </a:ext>
            </a:extLst>
          </p:cNvPr>
          <p:cNvSpPr>
            <a:spLocks noGrp="1"/>
          </p:cNvSpPr>
          <p:nvPr/>
        </p:nvSpPr>
        <p:spPr>
          <a:xfrm>
            <a:off x="6743700" y="1771650"/>
            <a:ext cx="514350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4050" b="0" i="0">
                <a:solidFill>
                  <a:srgbClr val="2438E8"/>
                </a:solidFill>
              </a:defRPr>
            </a:pPr>
            <a:r>
              <a:rPr sz="40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За 1–3 дня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947D8D4-DC65-4898-95DC-709313874180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5334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575" b="1" i="0">
                <a:solidFill>
                  <a:srgbClr val="15171C"/>
                </a:solidFill>
              </a:defRPr>
            </a:pPr>
            <a:r>
              <a:rPr sz="1575" b="1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Быстрые правила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9F6A946-0BC8-429A-A12E-6072B42CECD0}"/>
              </a:ext>
            </a:extLst>
          </p:cNvPr>
          <p:cNvSpPr>
            <a:spLocks noGrp="1"/>
          </p:cNvSpPr>
          <p:nvPr/>
        </p:nvSpPr>
        <p:spPr>
          <a:xfrm>
            <a:off x="6762750" y="6191250"/>
            <a:ext cx="5048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575" b="1" i="0">
                <a:solidFill>
                  <a:srgbClr val="15171C"/>
                </a:solidFill>
              </a:defRPr>
            </a:pPr>
            <a:r>
              <a:rPr sz="1575" b="1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ML-прогноз по истории канала</a:t>
            </a:r>
          </a:p>
        </p:txBody>
      </p:sp>
    </p:spTree>
    <p:extLst>
      <p:ext uri="{BB962C8B-B14F-4D97-AF65-F5344CB8AC3E}">
        <p14:creationId xmlns:p14="http://schemas.microsoft.com/office/powerpoint/2010/main" val="3268717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 thruBlk="1"/>
      </p:transition>
    </mc:Choice>
    <mc:Fallback xmlns="">
      <p:transition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D64E2ED-D599-4517-ABB0-D1566AA534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D79634C-1992-43A2-84A9-7469C582C1EE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600" b="0" i="0">
                <a:solidFill>
                  <a:srgbClr val="15171C"/>
                </a:solidFill>
              </a:defRPr>
            </a:pPr>
            <a:r>
              <a: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Диспетчер получает понятное задание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7228FEA-A055-4B49-9D16-914BBDE11CAE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76200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1" i="0">
                <a:solidFill>
                  <a:srgbClr val="2438E8"/>
                </a:solidFill>
              </a:defRPr>
            </a:pPr>
            <a:r>
              <a:rPr sz="1725" b="1" i="0">
                <a:solidFill>
                  <a:srgbClr val="2438E8"/>
                </a:solidFill>
                <a:latin typeface="Onest"/>
                <a:ea typeface="Onest"/>
                <a:cs typeface="Onest"/>
              </a:rPr>
              <a:t>Очередь на проверку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503E3CF-D341-4F74-8000-53D593008B48}"/>
              </a:ext>
            </a:extLst>
          </p:cNvPr>
          <p:cNvSpPr>
            <a:spLocks noGrp="1"/>
          </p:cNvSpPr>
          <p:nvPr/>
        </p:nvSpPr>
        <p:spPr>
          <a:xfrm>
            <a:off x="8877300" y="13811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725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1" i="0">
                <a:solidFill>
                  <a:srgbClr val="2438E8"/>
                </a:solidFill>
              </a:defRPr>
            </a:pPr>
            <a:r>
              <a:rPr sz="1725" b="1" i="0">
                <a:solidFill>
                  <a:srgbClr val="2438E8"/>
                </a:solidFill>
                <a:latin typeface="Onest"/>
                <a:ea typeface="Onest"/>
                <a:cs typeface="Onest"/>
              </a:rPr>
              <a:t>Карточка канала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4C2924F-F857-40E9-8165-254313E673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11717" y="1828800"/>
            <a:ext cx="7806267" cy="43910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CC310AB-61D5-4F48-9976-2086797049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9400" t="11100" r="1200" b="2800"/>
          <a:stretch/>
        </p:blipFill>
        <p:spPr>
          <a:xfrm>
            <a:off x="8858250" y="1809750"/>
            <a:ext cx="2895600" cy="44767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57C75CD-1CE5-4536-81BA-8E3F4DF9EE7D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10953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1" i="0">
                <a:solidFill>
                  <a:srgbClr val="15171C"/>
                </a:solidFill>
              </a:defRPr>
            </a:pPr>
            <a:r>
              <a:rPr sz="1650" b="1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Решение и причина остаются в журнале</a:t>
            </a:r>
          </a:p>
        </p:txBody>
      </p:sp>
    </p:spTree>
    <p:extLst>
      <p:ext uri="{BB962C8B-B14F-4D97-AF65-F5344CB8AC3E}">
        <p14:creationId xmlns:p14="http://schemas.microsoft.com/office/powerpoint/2010/main" val="22938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 thruBlk="1"/>
      </p:transition>
    </mc:Choice>
    <mc:Fallback xmlns="">
      <p:transition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BF4DEB4-CDBF-4AEF-AEBD-CA5A68E05A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4C88628-B94A-4422-BB9D-4AEC4E099FC8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750" b="0" i="0">
                <a:solidFill>
                  <a:srgbClr val="15171C"/>
                </a:solidFill>
              </a:defRPr>
            </a:pPr>
            <a:r>
              <a:rPr sz="375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146 оповещений вместо 535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5AE8FAD-A696-4289-AE72-C0D40D8A4A74}"/>
              </a:ext>
            </a:extLst>
          </p:cNvPr>
          <p:cNvSpPr>
            <a:spLocks noGrp="1"/>
          </p:cNvSpPr>
          <p:nvPr/>
        </p:nvSpPr>
        <p:spPr>
          <a:xfrm>
            <a:off x="609600" y="1323975"/>
            <a:ext cx="7239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0" i="0">
                <a:solidFill>
                  <a:srgbClr val="59616B"/>
                </a:solidFill>
              </a:defRPr>
            </a:pPr>
            <a:r>
              <a:rPr sz="1725" b="0" i="0">
                <a:solidFill>
                  <a:srgbClr val="59616B"/>
                </a:solidFill>
                <a:latin typeface="Onest"/>
                <a:ea typeface="Onest"/>
                <a:cs typeface="Onest"/>
              </a:rPr>
              <a:t>Среднее за смоделированные сутки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1C33F5CC-9DC3-44F8-85E1-490506BB0023}"/>
              </a:ext>
            </a:extLst>
          </p:cNvPr>
          <p:cNvGraphicFramePr/>
          <p:nvPr/>
        </p:nvGraphicFramePr>
        <p:xfrm>
          <a:off x="609600" y="2152650"/>
          <a:ext cx="7239000" cy="2667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D56B4F5-9C3E-4EE7-80D5-FAD25C84950D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37147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750" b="0" i="0">
                <a:solidFill>
                  <a:srgbClr val="2438E8"/>
                </a:solidFill>
              </a:defRPr>
            </a:pPr>
            <a:r>
              <a:rPr sz="37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680 / 680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E308DE0-A954-4C14-A16D-A2BA3A49F764}"/>
              </a:ext>
            </a:extLst>
          </p:cNvPr>
          <p:cNvSpPr>
            <a:spLocks noGrp="1"/>
          </p:cNvSpPr>
          <p:nvPr/>
        </p:nvSpPr>
        <p:spPr>
          <a:xfrm>
            <a:off x="3733800" y="5124450"/>
            <a:ext cx="3810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8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00" b="0" i="0">
                <a:solidFill>
                  <a:srgbClr val="15171C"/>
                </a:solidFill>
              </a:defRPr>
            </a:pPr>
            <a:r>
              <a:rPr sz="1800" b="0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событий найдены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A1F66C5-448D-40AE-BCAE-D785B4143396}"/>
              </a:ext>
            </a:extLst>
          </p:cNvPr>
          <p:cNvSpPr>
            <a:spLocks noGrp="1"/>
          </p:cNvSpPr>
          <p:nvPr/>
        </p:nvSpPr>
        <p:spPr>
          <a:xfrm>
            <a:off x="609600" y="5857875"/>
            <a:ext cx="67627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57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575" b="1" i="0">
                <a:solidFill>
                  <a:srgbClr val="15171C"/>
                </a:solidFill>
              </a:defRPr>
            </a:pPr>
            <a:r>
              <a:rPr sz="1575" b="1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Проверка логики на синтетике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DF3529F-182B-4EAB-863F-3682B3AE128D}"/>
              </a:ext>
            </a:extLst>
          </p:cNvPr>
          <p:cNvSpPr>
            <a:spLocks noGrp="1"/>
          </p:cNvSpPr>
          <p:nvPr/>
        </p:nvSpPr>
        <p:spPr>
          <a:xfrm>
            <a:off x="609600" y="6219825"/>
            <a:ext cx="6762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350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350" b="0" i="0">
                <a:solidFill>
                  <a:srgbClr val="59616B"/>
                </a:solidFill>
              </a:defRPr>
            </a:pPr>
            <a:r>
              <a:rPr sz="1350" b="0" i="0">
                <a:solidFill>
                  <a:srgbClr val="59616B"/>
                </a:solidFill>
                <a:latin typeface="Onest"/>
                <a:ea typeface="Onest"/>
                <a:cs typeface="Onest"/>
              </a:rPr>
              <a:t>20 отложенных наборов, 185 каналов</a:t>
            </a:r>
          </a:p>
        </p:txBody>
      </p:sp>
    </p:spTree>
    <p:extLst>
      <p:ext uri="{BB962C8B-B14F-4D97-AF65-F5344CB8AC3E}">
        <p14:creationId xmlns:p14="http://schemas.microsoft.com/office/powerpoint/2010/main" val="1216409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 thruBlk="1"/>
      </p:transition>
    </mc:Choice>
    <mc:Fallback xmlns="">
      <p:transition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ADA4000-E82A-48E0-98C5-86F73E17C4B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F93FFEC-B825-4452-8326-E19431E82429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675" b="0" i="0">
                <a:solidFill>
                  <a:srgbClr val="15171C"/>
                </a:solidFill>
              </a:defRPr>
            </a:pPr>
            <a:r>
              <a:rPr sz="3675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Проверка прогноза на 21 неделе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4C8CC4B-25DA-4F17-8176-EBD6B4560AF9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6762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72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0" i="0">
                <a:solidFill>
                  <a:srgbClr val="59616B"/>
                </a:solidFill>
              </a:defRPr>
            </a:pPr>
            <a:r>
              <a:rPr sz="1725" b="0" i="0">
                <a:solidFill>
                  <a:srgbClr val="59616B"/>
                </a:solidFill>
                <a:latin typeface="Onest"/>
                <a:ea typeface="Onest"/>
                <a:cs typeface="Onest"/>
              </a:rPr>
              <a:t>Попаданий в списке из 100 каналов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6F49A10C-1AD9-44FD-91FB-15AD2D053A18}"/>
              </a:ext>
            </a:extLst>
          </p:cNvPr>
          <p:cNvGraphicFramePr/>
          <p:nvPr/>
        </p:nvGraphicFramePr>
        <p:xfrm>
          <a:off x="609600" y="2133600"/>
          <a:ext cx="6143625" cy="2762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6130F1B-23E3-4016-A1E0-64FEE6EE6690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6238875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800" b="1" i="0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00" b="1" i="0">
                <a:solidFill>
                  <a:srgbClr val="2438E8"/>
                </a:solidFill>
              </a:defRPr>
            </a:pPr>
            <a:r>
              <a:rPr sz="1800" b="1" i="0">
                <a:solidFill>
                  <a:srgbClr val="2438E8"/>
                </a:solidFill>
                <a:latin typeface="Onest"/>
                <a:ea typeface="Onest"/>
                <a:cs typeface="Onest"/>
              </a:rPr>
              <a:t>Медиана по 21 неделе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E4E4995-9441-48E6-8C97-219B9D55DC7D}"/>
              </a:ext>
            </a:extLst>
          </p:cNvPr>
          <p:cNvSpPr>
            <a:spLocks noGrp="1"/>
          </p:cNvSpPr>
          <p:nvPr/>
        </p:nvSpPr>
        <p:spPr>
          <a:xfrm>
            <a:off x="609600" y="5686425"/>
            <a:ext cx="6334125" cy="552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500" b="0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500" b="0" i="0">
                <a:solidFill>
                  <a:srgbClr val="15171C"/>
                </a:solidFill>
              </a:defRPr>
            </a:pPr>
            <a:r>
              <a:rPr sz="1500" b="0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Переобучение проверили в бэктесте.</a:t>
            </a:r>
          </a:p>
          <a:p>
            <a:pPr>
              <a:defRPr sz="1500" b="0" i="0">
                <a:solidFill>
                  <a:srgbClr val="15171C"/>
                </a:solidFill>
              </a:defRPr>
            </a:pPr>
            <a:r>
              <a:rPr sz="1500" b="0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В стенде оно пока не включено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13C9893-919D-4763-8455-65291265FADA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6334125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275" b="0" i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275" b="0" i="0">
                <a:solidFill>
                  <a:srgbClr val="59616B"/>
                </a:solidFill>
              </a:defRPr>
            </a:pPr>
            <a:r>
              <a:rPr sz="1275" b="0" i="0">
                <a:solidFill>
                  <a:srgbClr val="59616B"/>
                </a:solidFill>
                <a:latin typeface="Onest"/>
                <a:ea typeface="Onest"/>
                <a:cs typeface="Onest"/>
              </a:rPr>
              <a:t>Метки событий взяли из журнала СМВУ</a:t>
            </a:r>
          </a:p>
        </p:txBody>
      </p:sp>
    </p:spTree>
    <p:extLst>
      <p:ext uri="{BB962C8B-B14F-4D97-AF65-F5344CB8AC3E}">
        <p14:creationId xmlns:p14="http://schemas.microsoft.com/office/powerpoint/2010/main" val="990052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 thruBlk="1"/>
      </p:transition>
    </mc:Choice>
    <mc:Fallback xmlns="">
      <p:transition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941D9F8-54E8-40F2-A29B-ABB8291412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5E322B2-F2B6-4817-B95E-B586E8FFCB04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600" b="0" i="0">
                <a:solidFill>
                  <a:srgbClr val="15171C"/>
                </a:solidFill>
              </a:defRPr>
            </a:pPr>
            <a:r>
              <a:rPr sz="3600" b="0" i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Пилот проверит эффект на выездах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58C8489-99D7-4F65-9E1E-68D7C966C97A}"/>
              </a:ext>
            </a:extLst>
          </p:cNvPr>
          <p:cNvSpPr>
            <a:spLocks noGrp="1"/>
          </p:cNvSpPr>
          <p:nvPr/>
        </p:nvSpPr>
        <p:spPr>
          <a:xfrm>
            <a:off x="609600" y="1495425"/>
            <a:ext cx="3524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450" b="0" i="0">
                <a:solidFill>
                  <a:srgbClr val="2438E8"/>
                </a:solidFill>
              </a:defRPr>
            </a:pPr>
            <a:r>
              <a: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2–4 недели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0DCCE870-1A5F-42D1-9388-D0CAC2FF3379}"/>
              </a:ext>
            </a:extLst>
          </p:cNvPr>
          <p:cNvSpPr>
            <a:spLocks noGrp="1"/>
          </p:cNvSpPr>
          <p:nvPr/>
        </p:nvSpPr>
        <p:spPr>
          <a:xfrm>
            <a:off x="609600" y="2171700"/>
            <a:ext cx="3524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1" i="0">
                <a:solidFill>
                  <a:srgbClr val="15171C"/>
                </a:solidFill>
              </a:defRPr>
            </a:pPr>
            <a:r>
              <a:rPr sz="1725" b="1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Архив ТОиР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F45F2AE-4BD5-4039-A6A8-AA8DAB366467}"/>
              </a:ext>
            </a:extLst>
          </p:cNvPr>
          <p:cNvSpPr>
            <a:spLocks noGrp="1"/>
          </p:cNvSpPr>
          <p:nvPr/>
        </p:nvSpPr>
        <p:spPr>
          <a:xfrm>
            <a:off x="4429125" y="1495425"/>
            <a:ext cx="3524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450" b="0" i="0">
                <a:solidFill>
                  <a:srgbClr val="2438E8"/>
                </a:solidFill>
              </a:defRPr>
            </a:pPr>
            <a:r>
              <a: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1–2 месяца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523B06F-9A2D-4ED3-A3C1-938FB2CBFB67}"/>
              </a:ext>
            </a:extLst>
          </p:cNvPr>
          <p:cNvSpPr>
            <a:spLocks noGrp="1"/>
          </p:cNvSpPr>
          <p:nvPr/>
        </p:nvSpPr>
        <p:spPr>
          <a:xfrm>
            <a:off x="4429125" y="2171700"/>
            <a:ext cx="3524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1" i="0">
                <a:solidFill>
                  <a:srgbClr val="15171C"/>
                </a:solidFill>
              </a:defRPr>
            </a:pPr>
            <a:r>
              <a:rPr sz="1725" b="1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Теневой режим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BEFF8AE-68B1-47DC-ADFC-4EEEBB7563E8}"/>
              </a:ext>
            </a:extLst>
          </p:cNvPr>
          <p:cNvSpPr>
            <a:spLocks noGrp="1"/>
          </p:cNvSpPr>
          <p:nvPr/>
        </p:nvSpPr>
        <p:spPr>
          <a:xfrm>
            <a:off x="8324850" y="1495425"/>
            <a:ext cx="352425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450" b="0" i="0">
                <a:solidFill>
                  <a:srgbClr val="2438E8"/>
                </a:solidFill>
              </a:defRPr>
            </a:pPr>
            <a:r>
              <a:rPr sz="3450" b="0" i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3–6 месяцев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39AA7C5-3E0C-40E1-988D-36E594D8DC9E}"/>
              </a:ext>
            </a:extLst>
          </p:cNvPr>
          <p:cNvSpPr>
            <a:spLocks noGrp="1"/>
          </p:cNvSpPr>
          <p:nvPr/>
        </p:nvSpPr>
        <p:spPr>
          <a:xfrm>
            <a:off x="8324850" y="2171700"/>
            <a:ext cx="35242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1" i="0">
                <a:solidFill>
                  <a:srgbClr val="15171C"/>
                </a:solidFill>
              </a:defRPr>
            </a:pPr>
            <a:r>
              <a:rPr sz="1725" b="1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Советчик диспетчера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6B433BF-38A9-4FA5-9E70-5346DCE5BD79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9537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725" b="1" i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1" i="0">
                <a:solidFill>
                  <a:srgbClr val="15171C"/>
                </a:solidFill>
              </a:defRPr>
            </a:pPr>
            <a:r>
              <a:rPr sz="1725" b="1" i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Нужны журнал ОДС и акты ТОиР за 12–24 месяца</a:t>
            </a:r>
          </a:p>
        </p:txBody>
      </p:sp>
    </p:spTree>
    <p:extLst>
      <p:ext uri="{BB962C8B-B14F-4D97-AF65-F5344CB8AC3E}">
        <p14:creationId xmlns:p14="http://schemas.microsoft.com/office/powerpoint/2010/main" val="1222414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 thruBlk="1"/>
      </p:transition>
    </mc:Choice>
    <mc:Fallback xmlns="">
      <p:transition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01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F15EA0D-8C1C-40A0-9DAB-EF15C84D13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A51C874-DF0E-4692-8059-3FECFA5BDF36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1001375" cy="10096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4350" b="0" i="0">
                <a:solidFill>
                  <a:srgbClr val="F7F4EC"/>
                </a:solidFill>
              </a:defRPr>
            </a:pPr>
            <a:r>
              <a:rPr sz="4350" b="0" i="0">
                <a:solidFill>
                  <a:srgbClr val="F7F4EC"/>
                </a:solidFill>
                <a:latin typeface="Source Serif 4"/>
                <a:ea typeface="Source Serif 4"/>
                <a:cs typeface="Source Serif 4"/>
              </a:rPr>
              <a:t>Начнём с пилотного участка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CC17C36-3BD7-4DA1-B5C9-FFFEF3D6A5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743950" y="2047875"/>
            <a:ext cx="2876550" cy="287655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D2235B9-5AF2-435C-A7B3-01468C274CAC}"/>
              </a:ext>
            </a:extLst>
          </p:cNvPr>
          <p:cNvSpPr>
            <a:spLocks noGrp="1"/>
          </p:cNvSpPr>
          <p:nvPr/>
        </p:nvSpPr>
        <p:spPr>
          <a:xfrm>
            <a:off x="8743950" y="5191125"/>
            <a:ext cx="31432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defPPr>
            <a:lvl1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lvl1pPr>
            <a:lvl2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lvl2pPr>
            <a:lvl3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lvl3pPr>
            <a:lvl4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lvl4pPr>
            <a:lvl5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lvl5pPr>
            <a:lvl6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lvl6pPr>
            <a:lvl7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lvl7pPr>
            <a:lvl8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lvl8pPr>
            <a:lvl9pPr>
              <a:defRPr sz="2025" b="1" i="0">
                <a:solidFill>
                  <a:srgbClr val="F7F4E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2025" b="1" i="0">
                <a:solidFill>
                  <a:srgbClr val="F7F4EC"/>
                </a:solidFill>
              </a:defRPr>
            </a:pPr>
            <a:r>
              <a:rPr sz="2025" b="1" i="0">
                <a:solidFill>
                  <a:srgbClr val="F7F4EC"/>
                </a:solidFill>
                <a:latin typeface="Onest"/>
                <a:ea typeface="Onest"/>
                <a:cs typeface="Onest"/>
              </a:rPr>
              <a:t>Открыть стенд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AC1D74F-0D59-4461-BE94-3E7D78B0079C}"/>
              </a:ext>
            </a:extLst>
          </p:cNvPr>
          <p:cNvSpPr>
            <a:spLocks noGrp="1"/>
          </p:cNvSpPr>
          <p:nvPr/>
        </p:nvSpPr>
        <p:spPr>
          <a:xfrm>
            <a:off x="8743950" y="5695950"/>
            <a:ext cx="314325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defPPr>
            <a:lvl1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1pPr>
            <a:lvl2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2pPr>
            <a:lvl3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3pPr>
            <a:lvl4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4pPr>
            <a:lvl5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5pPr>
            <a:lvl6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6pPr>
            <a:lvl7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7pPr>
            <a:lvl8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8pPr>
            <a:lvl9pPr>
              <a:defRPr sz="120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200" b="0" i="0">
                <a:solidFill>
                  <a:srgbClr val="B8C1CC"/>
                </a:solidFill>
              </a:defRPr>
            </a:pPr>
            <a:r>
              <a:rPr sz="1200" b="0" i="0">
                <a:solidFill>
                  <a:srgbClr val="B8C1CC"/>
                </a:solidFill>
                <a:latin typeface="Onest"/>
                <a:ea typeface="Onest"/>
                <a:cs typeface="Onest"/>
              </a:rPr>
              <a:t>moscollector-neurokontur.onrender.com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D72A22C-B232-407E-B714-9A1C8FADE0E2}"/>
              </a:ext>
            </a:extLst>
          </p:cNvPr>
          <p:cNvSpPr>
            <a:spLocks noGrp="1"/>
          </p:cNvSpPr>
          <p:nvPr/>
        </p:nvSpPr>
        <p:spPr>
          <a:xfrm>
            <a:off x="609600" y="6257925"/>
            <a:ext cx="7620000" cy="361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defPPr>
            <a:lvl1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lvl1pPr>
            <a:lvl2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lvl2pPr>
            <a:lvl3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lvl3pPr>
            <a:lvl4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lvl4pPr>
            <a:lvl5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lvl5pPr>
            <a:lvl6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lvl6pPr>
            <a:lvl7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lvl7pPr>
            <a:lvl8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lvl8pPr>
            <a:lvl9pPr>
              <a:defRPr sz="1425" b="0" i="0">
                <a:solidFill>
                  <a:srgbClr val="D6DCE4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425" b="0" i="0">
                <a:solidFill>
                  <a:srgbClr val="D6DCE4"/>
                </a:solidFill>
              </a:defRPr>
            </a:pPr>
            <a:r>
              <a:rPr sz="1425" b="0" i="0">
                <a:solidFill>
                  <a:srgbClr val="D6DCE4"/>
                </a:solidFill>
                <a:latin typeface="Onest"/>
                <a:ea typeface="Onest"/>
                <a:cs typeface="Onest"/>
              </a:rPr>
              <a:t>Vector  /  Сетрак Кульбикаян  /  @qxhihi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9E7C69B-2C8D-401F-A777-A71380E807EA}"/>
              </a:ext>
            </a:extLst>
          </p:cNvPr>
          <p:cNvSpPr>
            <a:spLocks noGrp="1"/>
          </p:cNvSpPr>
          <p:nvPr/>
        </p:nvSpPr>
        <p:spPr>
          <a:xfrm>
            <a:off x="8743950" y="6429375"/>
            <a:ext cx="31432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defPPr>
            <a:lvl1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1pPr>
            <a:lvl2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2pPr>
            <a:lvl3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3pPr>
            <a:lvl4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4pPr>
            <a:lvl5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5pPr>
            <a:lvl6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6pPr>
            <a:lvl7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7pPr>
            <a:lvl8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8pPr>
            <a:lvl9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350" b="0" i="0">
                <a:solidFill>
                  <a:srgbClr val="B8C1CC"/>
                </a:solidFill>
                <a:latin typeface="Onest"/>
                <a:ea typeface="Onest"/>
                <a:cs typeface="Onest"/>
              </a:defRPr>
            </a:pPr>
            <a:r>
              <a:rPr sz="1350">
                <a:solidFill>
                  <a:srgbClr val="B8C1CC"/>
                </a:solidFill>
                <a:latin typeface="Onest"/>
                <a:ea typeface="Onest"/>
                <a:cs typeface="Onest"/>
              </a:rPr>
              <a:t>Код и документация</a:t>
            </a:r>
          </a:p>
        </p:txBody>
      </p:sp>
    </p:spTree>
    <p:extLst>
      <p:ext uri="{BB962C8B-B14F-4D97-AF65-F5344CB8AC3E}">
        <p14:creationId xmlns:p14="http://schemas.microsoft.com/office/powerpoint/2010/main" val="884513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 thruBlk="1"/>
      </p:transition>
    </mc:Choice>
    <mc:Fallback xmlns="">
      <p:transition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45FB21E-06AA-45F5-AEC6-EB047D85CE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063A126-3402-4169-B151-C63DED20B935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750" b="0">
                <a:solidFill>
                  <a:srgbClr val="15171C"/>
                </a:solidFill>
              </a:defRPr>
            </a:pPr>
            <a:r>
              <a: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Когда осмотр окупается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0EF5BBD-DF39-4F8F-BAA1-87B07E070856}"/>
              </a:ext>
            </a:extLst>
          </p:cNvPr>
          <p:cNvSpPr>
            <a:spLocks noGrp="1"/>
          </p:cNvSpPr>
          <p:nvPr/>
        </p:nvSpPr>
        <p:spPr>
          <a:xfrm>
            <a:off x="1562100" y="4638675"/>
            <a:ext cx="41910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4125" b="0">
                <a:solidFill>
                  <a:srgbClr val="15171C"/>
                </a:solidFill>
              </a:defRPr>
            </a:pPr>
            <a:r>
              <a: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3 200 ₽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B69A326-CE3C-453B-AC1B-152EE6902261}"/>
              </a:ext>
            </a:extLst>
          </p:cNvPr>
          <p:cNvSpPr>
            <a:spLocks noGrp="1"/>
          </p:cNvSpPr>
          <p:nvPr/>
        </p:nvSpPr>
        <p:spPr>
          <a:xfrm>
            <a:off x="7419975" y="4638675"/>
            <a:ext cx="419100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4125" b="0">
                <a:solidFill>
                  <a:srgbClr val="15171C"/>
                </a:solidFill>
              </a:defRPr>
            </a:pPr>
            <a:r>
              <a:rPr sz="41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18 500 ₽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E6FBCBF-C695-48CB-8F85-9D83507F1C6F}"/>
              </a:ext>
            </a:extLst>
          </p:cNvPr>
          <p:cNvSpPr>
            <a:spLocks noGrp="1"/>
          </p:cNvSpPr>
          <p:nvPr/>
        </p:nvSpPr>
        <p:spPr>
          <a:xfrm>
            <a:off x="1571625" y="5314950"/>
            <a:ext cx="428625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00" b="0">
                <a:solidFill>
                  <a:srgbClr val="15171C"/>
                </a:solidFill>
              </a:defRPr>
            </a:pPr>
            <a:r>
              <a:rPr sz="180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плановый осмотр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0ACE693-7D8C-47F2-9319-A9B04004468E}"/>
              </a:ext>
            </a:extLst>
          </p:cNvPr>
          <p:cNvSpPr>
            <a:spLocks noGrp="1"/>
          </p:cNvSpPr>
          <p:nvPr/>
        </p:nvSpPr>
        <p:spPr>
          <a:xfrm>
            <a:off x="7429500" y="5314950"/>
            <a:ext cx="428625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8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00" b="0">
                <a:solidFill>
                  <a:srgbClr val="15171C"/>
                </a:solidFill>
              </a:defRPr>
            </a:pPr>
            <a:r>
              <a:rPr sz="180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аварийный выезд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E8EF90A-47EA-46A9-A9BF-BB0115E2A126}"/>
              </a:ext>
            </a:extLst>
          </p:cNvPr>
          <p:cNvSpPr>
            <a:spLocks noGrp="1"/>
          </p:cNvSpPr>
          <p:nvPr/>
        </p:nvSpPr>
        <p:spPr>
          <a:xfrm>
            <a:off x="609600" y="5924550"/>
            <a:ext cx="27622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4350" b="0">
                <a:solidFill>
                  <a:srgbClr val="2438E8"/>
                </a:solidFill>
              </a:defRPr>
            </a:pPr>
            <a:r>
              <a:rPr sz="4350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17,3 %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D08501A-F8E6-4058-B972-44333D483E6E}"/>
              </a:ext>
            </a:extLst>
          </p:cNvPr>
          <p:cNvSpPr>
            <a:spLocks noGrp="1"/>
          </p:cNvSpPr>
          <p:nvPr/>
        </p:nvSpPr>
        <p:spPr>
          <a:xfrm>
            <a:off x="3505200" y="5962650"/>
            <a:ext cx="80010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75" b="0">
                <a:solidFill>
                  <a:srgbClr val="15171C"/>
                </a:solidFill>
              </a:defRPr>
            </a:pPr>
            <a:r>
              <a:rPr sz="1875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осмотров должны предотвратить</a:t>
            </a:r>
          </a:p>
          <a:p>
            <a:pPr>
              <a:defRPr sz="1875" b="0">
                <a:solidFill>
                  <a:srgbClr val="15171C"/>
                </a:solidFill>
              </a:defRPr>
            </a:pPr>
            <a:r>
              <a:rPr sz="1875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аварийный выезд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259FCFA-CB68-4282-8969-F2CF394D961A}"/>
              </a:ext>
            </a:extLst>
          </p:cNvPr>
          <p:cNvSpPr>
            <a:spLocks noGrp="1"/>
          </p:cNvSpPr>
          <p:nvPr/>
        </p:nvSpPr>
        <p:spPr>
          <a:xfrm>
            <a:off x="3505200" y="6629400"/>
            <a:ext cx="8001000" cy="219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1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125" b="0">
                <a:solidFill>
                  <a:srgbClr val="59616B"/>
                </a:solidFill>
              </a:defRPr>
            </a:pPr>
            <a:r>
              <a:rPr sz="1125" b="0">
                <a:solidFill>
                  <a:srgbClr val="59616B"/>
                </a:solidFill>
                <a:latin typeface="Onest"/>
                <a:ea typeface="Onest"/>
                <a:cs typeface="Onest"/>
              </a:rPr>
              <a:t>Сценарные ставки. Порог прямых затрат без стоимости системы</a:t>
            </a:r>
          </a:p>
        </p:txBody>
      </p:sp>
    </p:spTree>
    <p:extLst>
      <p:ext uri="{BB962C8B-B14F-4D97-AF65-F5344CB8AC3E}">
        <p14:creationId xmlns:p14="http://schemas.microsoft.com/office/powerpoint/2010/main" val="1014645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ECC0822-AA11-4AB5-BBEB-DBA523A08A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56110D8-02B0-4163-B403-CC2106F18BB3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600" b="0">
                <a:solidFill>
                  <a:srgbClr val="15171C"/>
                </a:solidFill>
              </a:defRPr>
            </a:pPr>
            <a:r>
              <a: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Результат еженедельного обучения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2CC9329-92F5-4958-AA04-15FF828C8C83}"/>
              </a:ext>
            </a:extLst>
          </p:cNvPr>
          <p:cNvSpPr>
            <a:spLocks noGrp="1"/>
          </p:cNvSpPr>
          <p:nvPr/>
        </p:nvSpPr>
        <p:spPr>
          <a:xfrm>
            <a:off x="609600" y="1362075"/>
            <a:ext cx="695325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0">
                <a:solidFill>
                  <a:srgbClr val="59616B"/>
                </a:solidFill>
              </a:defRPr>
            </a:pPr>
            <a:r>
              <a:rPr sz="1725" b="0">
                <a:solidFill>
                  <a:srgbClr val="59616B"/>
                </a:solidFill>
                <a:latin typeface="Onest"/>
                <a:ea typeface="Onest"/>
                <a:cs typeface="Onest"/>
              </a:rPr>
              <a:t>PR-AUC, медиана по 21 неделе</a:t>
            </a:r>
          </a:p>
        </p:txBody>
      </p:sp>
      <p:graphicFrame>
        <p:nvGraphicFramePr>
          <p:cNvPr id="4" name="Chart">
            <a:extLst>
              <a:ext uri="{FF2B5EF4-FFF2-40B4-BE49-F238E27FC236}">
                <a16:creationId xmlns:a16="http://schemas.microsoft.com/office/drawing/2014/main" id="{2C96C179-CAA1-4673-ABAE-98CC2BBE06EC}"/>
              </a:ext>
            </a:extLst>
          </p:cNvPr>
          <p:cNvGraphicFramePr/>
          <p:nvPr/>
        </p:nvGraphicFramePr>
        <p:xfrm>
          <a:off x="609600" y="2076450"/>
          <a:ext cx="6191250" cy="2762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3551201-2F51-4FD6-B9FC-F4CA97853969}"/>
              </a:ext>
            </a:extLst>
          </p:cNvPr>
          <p:cNvSpPr>
            <a:spLocks noGrp="1"/>
          </p:cNvSpPr>
          <p:nvPr/>
        </p:nvSpPr>
        <p:spPr>
          <a:xfrm>
            <a:off x="609600" y="5286375"/>
            <a:ext cx="242887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4275" b="0">
                <a:solidFill>
                  <a:srgbClr val="2438E8"/>
                </a:solidFill>
              </a:defRPr>
            </a:pPr>
            <a:r>
              <a:rPr sz="42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59 %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7394A78-FD01-447D-8E2F-0E66258A071C}"/>
              </a:ext>
            </a:extLst>
          </p:cNvPr>
          <p:cNvSpPr>
            <a:spLocks noGrp="1"/>
          </p:cNvSpPr>
          <p:nvPr/>
        </p:nvSpPr>
        <p:spPr>
          <a:xfrm>
            <a:off x="3190875" y="5438775"/>
            <a:ext cx="8382000" cy="752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75" b="0">
                <a:solidFill>
                  <a:srgbClr val="15171C"/>
                </a:solidFill>
              </a:defRPr>
            </a:pPr>
            <a:r>
              <a:rPr sz="1875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событий — в каналах без сбоев</a:t>
            </a:r>
          </a:p>
          <a:p>
            <a:pPr>
              <a:defRPr sz="1875" b="0">
                <a:solidFill>
                  <a:srgbClr val="15171C"/>
                </a:solidFill>
              </a:defRPr>
            </a:pPr>
            <a:r>
              <a:rPr sz="1875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за предыдущую неделю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71512B3-ED22-4BCB-B769-E50491CF5477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109537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425" b="0">
                <a:solidFill>
                  <a:srgbClr val="59616B"/>
                </a:solidFill>
              </a:defRPr>
            </a:pPr>
            <a:r>
              <a:rPr sz="1425" b="0">
                <a:solidFill>
                  <a:srgbClr val="59616B"/>
                </a:solidFill>
                <a:latin typeface="Onest"/>
                <a:ea typeface="Onest"/>
                <a:cs typeface="Onest"/>
              </a:rPr>
              <a:t>Бэктест, метки из журнала. В стенде работает январская модель</a:t>
            </a:r>
          </a:p>
        </p:txBody>
      </p:sp>
    </p:spTree>
    <p:extLst>
      <p:ext uri="{BB962C8B-B14F-4D97-AF65-F5344CB8AC3E}">
        <p14:creationId xmlns:p14="http://schemas.microsoft.com/office/powerpoint/2010/main" val="9810111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68DBAEC5-5BA3-400D-A480-B8FCEE71FF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4871587-4EB0-4900-9F13-1A5F614566C6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750" b="0">
                <a:solidFill>
                  <a:srgbClr val="15171C"/>
                </a:solidFill>
              </a:defRPr>
            </a:pPr>
            <a:r>
              <a:rPr sz="375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Vector: от сигнала к заявке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7EEC6CB-9509-4C89-8CB4-BBE43F2D6F72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0">
                <a:solidFill>
                  <a:srgbClr val="59616B"/>
                </a:solidFill>
              </a:defRPr>
            </a:pPr>
            <a:r>
              <a:rPr sz="1725" b="0">
                <a:solidFill>
                  <a:srgbClr val="59616B"/>
                </a:solidFill>
                <a:latin typeface="Onest"/>
                <a:ea typeface="Onest"/>
                <a:cs typeface="Onest"/>
              </a:rPr>
              <a:t>2 участника. РКСИ, ИБТ-33. Ростов-на-Дону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57C1C36-2CDD-43EE-9515-CB7E4ACBF30A}"/>
              </a:ext>
            </a:extLst>
          </p:cNvPr>
          <p:cNvSpPr>
            <a:spLocks noGrp="1"/>
          </p:cNvSpPr>
          <p:nvPr/>
        </p:nvSpPr>
        <p:spPr>
          <a:xfrm>
            <a:off x="609600" y="506730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2175" b="0">
                <a:solidFill>
                  <a:srgbClr val="2438E8"/>
                </a:solidFill>
              </a:defRPr>
            </a:pPr>
            <a:r>
              <a: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Сигнал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E299667-5A54-40F8-9855-E62C8531B199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333375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11 485 каналов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003D61A-DE91-42BA-8F6B-AB7A641EF9B5}"/>
              </a:ext>
            </a:extLst>
          </p:cNvPr>
          <p:cNvSpPr>
            <a:spLocks noGrp="1"/>
          </p:cNvSpPr>
          <p:nvPr/>
        </p:nvSpPr>
        <p:spPr>
          <a:xfrm>
            <a:off x="4429125" y="506730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2175" b="0">
                <a:solidFill>
                  <a:srgbClr val="2438E8"/>
                </a:solidFill>
              </a:defRPr>
            </a:pPr>
            <a:r>
              <a: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Причина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D693675-2FA0-4A7B-A27C-24A68174B4A8}"/>
              </a:ext>
            </a:extLst>
          </p:cNvPr>
          <p:cNvSpPr>
            <a:spLocks noGrp="1"/>
          </p:cNvSpPr>
          <p:nvPr/>
        </p:nvSpPr>
        <p:spPr>
          <a:xfrm>
            <a:off x="4429125" y="5600700"/>
            <a:ext cx="333375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Правила сейчас.</a:t>
            </a:r>
          </a:p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Прогноз на 1–3 дня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E200E35-979E-46BE-AC48-6BDFEBB77DC5}"/>
              </a:ext>
            </a:extLst>
          </p:cNvPr>
          <p:cNvSpPr>
            <a:spLocks noGrp="1"/>
          </p:cNvSpPr>
          <p:nvPr/>
        </p:nvSpPr>
        <p:spPr>
          <a:xfrm>
            <a:off x="8324850" y="506730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2175" b="0">
                <a:solidFill>
                  <a:srgbClr val="2438E8"/>
                </a:solidFill>
              </a:defRPr>
            </a:pPr>
            <a:r>
              <a:rPr sz="217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Заявка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1EE130C0-71D3-452F-836F-52DBDAAE97C9}"/>
              </a:ext>
            </a:extLst>
          </p:cNvPr>
          <p:cNvSpPr>
            <a:spLocks noGrp="1"/>
          </p:cNvSpPr>
          <p:nvPr/>
        </p:nvSpPr>
        <p:spPr>
          <a:xfrm>
            <a:off x="8324850" y="5600700"/>
            <a:ext cx="3333750" cy="676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Решает диспетчер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DCE2D6D-962E-49C3-8695-BB560E4D62A4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537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4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425" b="0">
                <a:solidFill>
                  <a:srgbClr val="59616B"/>
                </a:solidFill>
              </a:defRPr>
            </a:pPr>
            <a:r>
              <a:rPr sz="1425" b="0">
                <a:solidFill>
                  <a:srgbClr val="59616B"/>
                </a:solidFill>
                <a:latin typeface="Onest"/>
                <a:ea typeface="Onest"/>
                <a:cs typeface="Onest"/>
              </a:rPr>
              <a:t>Одногруппники, команда под ЛЦТ. Капитан: Сетрак Кульбикаян, ИБ</a:t>
            </a:r>
          </a:p>
        </p:txBody>
      </p:sp>
    </p:spTree>
    <p:extLst>
      <p:ext uri="{BB962C8B-B14F-4D97-AF65-F5344CB8AC3E}">
        <p14:creationId xmlns:p14="http://schemas.microsoft.com/office/powerpoint/2010/main" val="4075105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8ECDF915-A319-454C-8F51-D394F0D5B1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AFCCF7B-98D1-4380-B619-D2CCEA339D9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675" b="0">
                <a:solidFill>
                  <a:srgbClr val="15171C"/>
                </a:solidFill>
              </a:defRPr>
            </a:pPr>
            <a:r>
              <a:rPr sz="367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Кто сделал НейроКонтур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B647935-9C93-451F-AFBE-27F0ECCB8894}"/>
              </a:ext>
            </a:extLst>
          </p:cNvPr>
          <p:cNvSpPr>
            <a:spLocks noGrp="1"/>
          </p:cNvSpPr>
          <p:nvPr/>
        </p:nvSpPr>
        <p:spPr>
          <a:xfrm>
            <a:off x="1752600" y="4857750"/>
            <a:ext cx="39052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2325" b="0">
                <a:solidFill>
                  <a:srgbClr val="15171C"/>
                </a:solidFill>
              </a:defRPr>
            </a:pPr>
            <a:r>
              <a: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Сетрак Кульбикаян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B58CDEE-B1EE-4E7A-B6A8-4CE6E5918ED1}"/>
              </a:ext>
            </a:extLst>
          </p:cNvPr>
          <p:cNvSpPr>
            <a:spLocks noGrp="1"/>
          </p:cNvSpPr>
          <p:nvPr/>
        </p:nvSpPr>
        <p:spPr>
          <a:xfrm>
            <a:off x="6515100" y="4857750"/>
            <a:ext cx="39052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2325" b="0">
                <a:solidFill>
                  <a:srgbClr val="15171C"/>
                </a:solidFill>
              </a:defRPr>
            </a:pPr>
            <a:r>
              <a:rPr sz="23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Богдан Кузниченко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AD01B8E-96AC-4067-BC82-AC775F9009CE}"/>
              </a:ext>
            </a:extLst>
          </p:cNvPr>
          <p:cNvSpPr>
            <a:spLocks noGrp="1"/>
          </p:cNvSpPr>
          <p:nvPr/>
        </p:nvSpPr>
        <p:spPr>
          <a:xfrm>
            <a:off x="2609850" y="5257800"/>
            <a:ext cx="29527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500" b="0">
                <a:solidFill>
                  <a:srgbClr val="15171C"/>
                </a:solidFill>
              </a:defRPr>
            </a:pPr>
            <a:r>
              <a:rPr sz="150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Капитан, разработка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B933929-6241-490F-A780-7115BF73F343}"/>
              </a:ext>
            </a:extLst>
          </p:cNvPr>
          <p:cNvSpPr>
            <a:spLocks noGrp="1"/>
          </p:cNvSpPr>
          <p:nvPr/>
        </p:nvSpPr>
        <p:spPr>
          <a:xfrm>
            <a:off x="7372350" y="5257800"/>
            <a:ext cx="29527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50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500" b="0">
                <a:solidFill>
                  <a:srgbClr val="15171C"/>
                </a:solidFill>
              </a:defRPr>
            </a:pPr>
            <a:r>
              <a:rPr sz="150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Сценарии и тесты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DE5E82B-C05B-4727-87BC-F5811F2F6C94}"/>
              </a:ext>
            </a:extLst>
          </p:cNvPr>
          <p:cNvSpPr>
            <a:spLocks noGrp="1"/>
          </p:cNvSpPr>
          <p:nvPr/>
        </p:nvSpPr>
        <p:spPr>
          <a:xfrm>
            <a:off x="2609850" y="5648325"/>
            <a:ext cx="2857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1">
                <a:solidFill>
                  <a:srgbClr val="2438E8"/>
                </a:solidFill>
              </a:defRPr>
            </a:pPr>
            <a:r>
              <a:rPr sz="1650" b="1">
                <a:solidFill>
                  <a:srgbClr val="2438E8"/>
                </a:solidFill>
                <a:latin typeface="Onest"/>
                <a:ea typeface="Onest"/>
                <a:cs typeface="Onest"/>
              </a:rPr>
              <a:t>@qxhihi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33CBE1B-3F5E-4794-BB13-01E2C11410B2}"/>
              </a:ext>
            </a:extLst>
          </p:cNvPr>
          <p:cNvSpPr>
            <a:spLocks noGrp="1"/>
          </p:cNvSpPr>
          <p:nvPr/>
        </p:nvSpPr>
        <p:spPr>
          <a:xfrm>
            <a:off x="7372350" y="5648325"/>
            <a:ext cx="295275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650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1">
                <a:solidFill>
                  <a:srgbClr val="2438E8"/>
                </a:solidFill>
              </a:defRPr>
            </a:pPr>
            <a:r>
              <a:rPr sz="1650" b="1">
                <a:solidFill>
                  <a:srgbClr val="2438E8"/>
                </a:solidFill>
                <a:latin typeface="Onest"/>
                <a:ea typeface="Onest"/>
                <a:cs typeface="Onest"/>
              </a:rPr>
              <a:t>@Mister_Petrovich</a:t>
            </a:r>
          </a:p>
        </p:txBody>
      </p:sp>
    </p:spTree>
    <p:extLst>
      <p:ext uri="{BB962C8B-B14F-4D97-AF65-F5344CB8AC3E}">
        <p14:creationId xmlns:p14="http://schemas.microsoft.com/office/powerpoint/2010/main" val="13849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D83E9EB-F6A3-4B4D-BFFC-8622618DF6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0FBC57F-6DED-4821-A974-EE3EB22CA640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825" b="0">
                <a:solidFill>
                  <a:srgbClr val="15171C"/>
                </a:solidFill>
              </a:defRPr>
            </a:pPr>
            <a:r>
              <a:rPr sz="3825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Как проверяли решение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9551BE00-A401-4EEA-A082-72EFA3DD61C1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95375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72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0">
                <a:solidFill>
                  <a:srgbClr val="59616B"/>
                </a:solidFill>
              </a:defRPr>
            </a:pPr>
            <a:r>
              <a:rPr sz="1725" b="0">
                <a:solidFill>
                  <a:srgbClr val="59616B"/>
                </a:solidFill>
                <a:latin typeface="Onest"/>
                <a:ea typeface="Onest"/>
                <a:cs typeface="Onest"/>
              </a:rPr>
              <a:t>Реальные данные городской инфраструктуры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8F08009-3501-4ED1-8447-D49102B3AAD8}"/>
              </a:ext>
            </a:extLst>
          </p:cNvPr>
          <p:cNvSpPr>
            <a:spLocks noGrp="1"/>
          </p:cNvSpPr>
          <p:nvPr/>
        </p:nvSpPr>
        <p:spPr>
          <a:xfrm>
            <a:off x="609600" y="4905375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75" b="1">
                <a:solidFill>
                  <a:srgbClr val="2438E8"/>
                </a:solidFill>
              </a:defRPr>
            </a:pPr>
            <a:r>
              <a:rPr sz="1875" b="1">
                <a:solidFill>
                  <a:srgbClr val="2438E8"/>
                </a:solidFill>
                <a:latin typeface="Onest"/>
                <a:ea typeface="Onest"/>
                <a:cs typeface="Onest"/>
              </a:rPr>
              <a:t>Нет актов ремонтов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C61D846-A9B8-46BD-83F5-945A07A4BC91}"/>
              </a:ext>
            </a:extLst>
          </p:cNvPr>
          <p:cNvSpPr>
            <a:spLocks noGrp="1"/>
          </p:cNvSpPr>
          <p:nvPr/>
        </p:nvSpPr>
        <p:spPr>
          <a:xfrm>
            <a:off x="609600" y="5410200"/>
            <a:ext cx="33337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Метки — из журнала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3E1AF5F-F7FF-4D1F-9B5E-2F376D756B9A}"/>
              </a:ext>
            </a:extLst>
          </p:cNvPr>
          <p:cNvSpPr>
            <a:spLocks noGrp="1"/>
          </p:cNvSpPr>
          <p:nvPr/>
        </p:nvSpPr>
        <p:spPr>
          <a:xfrm>
            <a:off x="4429125" y="4905375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75" b="1">
                <a:solidFill>
                  <a:srgbClr val="2438E8"/>
                </a:solidFill>
              </a:defRPr>
            </a:pPr>
            <a:r>
              <a:rPr sz="1875" b="1">
                <a:solidFill>
                  <a:srgbClr val="2438E8"/>
                </a:solidFill>
                <a:latin typeface="Onest"/>
                <a:ea typeface="Onest"/>
                <a:cs typeface="Onest"/>
              </a:rPr>
              <a:t>Редкие события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B6155AF-A8EA-4D58-B74D-DA561A3FA65F}"/>
              </a:ext>
            </a:extLst>
          </p:cNvPr>
          <p:cNvSpPr>
            <a:spLocks noGrp="1"/>
          </p:cNvSpPr>
          <p:nvPr/>
        </p:nvSpPr>
        <p:spPr>
          <a:xfrm>
            <a:off x="4429125" y="5410200"/>
            <a:ext cx="33337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Сравнили с простым правилом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0335889-B5C2-4A9E-A9A0-AD044498B88A}"/>
              </a:ext>
            </a:extLst>
          </p:cNvPr>
          <p:cNvSpPr>
            <a:spLocks noGrp="1"/>
          </p:cNvSpPr>
          <p:nvPr/>
        </p:nvSpPr>
        <p:spPr>
          <a:xfrm>
            <a:off x="8324850" y="4905375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75" b="1">
                <a:solidFill>
                  <a:srgbClr val="2438E8"/>
                </a:solidFill>
              </a:defRPr>
            </a:pPr>
            <a:r>
              <a:rPr sz="1875" b="1">
                <a:solidFill>
                  <a:srgbClr val="2438E8"/>
                </a:solidFill>
                <a:latin typeface="Onest"/>
                <a:ea typeface="Onest"/>
                <a:cs typeface="Onest"/>
              </a:rPr>
              <a:t>Дрейф данных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6FE276B6-4D7F-4612-9097-DB1A99D80517}"/>
              </a:ext>
            </a:extLst>
          </p:cNvPr>
          <p:cNvSpPr>
            <a:spLocks noGrp="1"/>
          </p:cNvSpPr>
          <p:nvPr/>
        </p:nvSpPr>
        <p:spPr>
          <a:xfrm>
            <a:off x="8324850" y="5410200"/>
            <a:ext cx="3333750" cy="723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Переобучение раз в неделю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97060CD-6946-45EE-9421-875D75F39634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953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5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575" b="0">
                <a:solidFill>
                  <a:srgbClr val="15171C"/>
                </a:solidFill>
              </a:defRPr>
            </a:pPr>
            <a:r>
              <a:rPr sz="1575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Цель: заранее планировать проверки и сократить лишние выезды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BDA55A8-DBCD-4785-A151-A7E5C9E02BF6}"/>
              </a:ext>
            </a:extLst>
          </p:cNvPr>
          <p:cNvSpPr>
            <a:spLocks noGrp="1"/>
          </p:cNvSpPr>
          <p:nvPr/>
        </p:nvSpPr>
        <p:spPr>
          <a:xfrm>
            <a:off x="609600" y="6610350"/>
            <a:ext cx="10953750" cy="238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200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200" b="0">
                <a:solidFill>
                  <a:srgbClr val="59616B"/>
                </a:solidFill>
              </a:defRPr>
            </a:pPr>
            <a:r>
              <a:rPr sz="1200" b="0">
                <a:solidFill>
                  <a:srgbClr val="59616B"/>
                </a:solidFill>
                <a:latin typeface="Onest"/>
                <a:ea typeface="Onest"/>
                <a:cs typeface="Onest"/>
              </a:rPr>
              <a:t>Бэктест на 21 неделе журнала. Сверка с подтверждёнными ремонтами — на пилоте</a:t>
            </a:r>
          </a:p>
        </p:txBody>
      </p:sp>
    </p:spTree>
    <p:extLst>
      <p:ext uri="{BB962C8B-B14F-4D97-AF65-F5344CB8AC3E}">
        <p14:creationId xmlns:p14="http://schemas.microsoft.com/office/powerpoint/2010/main" val="7921752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BBF18B9-68AD-4270-BAE5-EA10632AA3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" r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1B0F182-179D-478F-A614-66671F24A11C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10490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3600" b="0">
                <a:solidFill>
                  <a:srgbClr val="15171C"/>
                </a:solidFill>
              </a:defRPr>
            </a:pPr>
            <a:r>
              <a:rPr sz="3600" b="0">
                <a:solidFill>
                  <a:srgbClr val="15171C"/>
                </a:solidFill>
                <a:latin typeface="Source Serif 4"/>
                <a:ea typeface="Source Serif 4"/>
                <a:cs typeface="Source Serif 4"/>
              </a:rPr>
              <a:t>Два слоя, одно решение диспетчера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4E9640D-7A82-410A-AFFD-CDAD2C835172}"/>
              </a:ext>
            </a:extLst>
          </p:cNvPr>
          <p:cNvSpPr>
            <a:spLocks noGrp="1"/>
          </p:cNvSpPr>
          <p:nvPr/>
        </p:nvSpPr>
        <p:spPr>
          <a:xfrm>
            <a:off x="609600" y="2028825"/>
            <a:ext cx="3143250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87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75" b="0">
                <a:solidFill>
                  <a:srgbClr val="15171C"/>
                </a:solidFill>
              </a:defRPr>
            </a:pPr>
            <a:r>
              <a:rPr sz="1875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Журнал СМВУ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D0500B4-2EE9-4639-AE89-EEDAE77EC8D3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defPPr>
            <a:lvl1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1pPr>
            <a:lvl2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2pPr>
            <a:lvl3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3pPr>
            <a:lvl4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4pPr>
            <a:lvl5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5pPr>
            <a:lvl6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6pPr>
            <a:lvl7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7pPr>
            <a:lvl8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8pPr>
            <a:lvl9pPr>
              <a:def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defRPr>
            </a:lvl9pPr>
          </a:lstStyle>
          <a:p>
            <a:pPr>
              <a:defRPr sz="2325" b="0">
                <a:solidFill>
                  <a:srgbClr val="2438E8"/>
                </a:solidFill>
              </a:defRPr>
            </a:pPr>
            <a:r>
              <a:rPr sz="2325" b="0">
                <a:solidFill>
                  <a:srgbClr val="2438E8"/>
                </a:solidFill>
                <a:latin typeface="Source Serif 4"/>
                <a:ea typeface="Source Serif 4"/>
                <a:cs typeface="Source Serif 4"/>
              </a:rPr>
              <a:t>11 485 каналов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3F4BE11-E23A-4875-BBDB-5B443D006E16}"/>
              </a:ext>
            </a:extLst>
          </p:cNvPr>
          <p:cNvSpPr>
            <a:spLocks noGrp="1"/>
          </p:cNvSpPr>
          <p:nvPr/>
        </p:nvSpPr>
        <p:spPr>
          <a:xfrm>
            <a:off x="4714875" y="1438275"/>
            <a:ext cx="3810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75" b="1">
                <a:solidFill>
                  <a:srgbClr val="2438E8"/>
                </a:solidFill>
              </a:defRPr>
            </a:pPr>
            <a:r>
              <a:rPr sz="1875" b="1">
                <a:solidFill>
                  <a:srgbClr val="2438E8"/>
                </a:solidFill>
                <a:latin typeface="Onest"/>
                <a:ea typeface="Onest"/>
                <a:cs typeface="Onest"/>
              </a:rPr>
              <a:t>Быстрые правила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B397CF1-4EEC-45A5-A97F-385D2F58732B}"/>
              </a:ext>
            </a:extLst>
          </p:cNvPr>
          <p:cNvSpPr>
            <a:spLocks noGrp="1"/>
          </p:cNvSpPr>
          <p:nvPr/>
        </p:nvSpPr>
        <p:spPr>
          <a:xfrm>
            <a:off x="9010650" y="2019300"/>
            <a:ext cx="2905125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187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875" b="1">
                <a:solidFill>
                  <a:srgbClr val="2438E8"/>
                </a:solidFill>
              </a:defRPr>
            </a:pPr>
            <a:r>
              <a:rPr sz="1875" b="1">
                <a:solidFill>
                  <a:srgbClr val="2438E8"/>
                </a:solidFill>
                <a:latin typeface="Onest"/>
                <a:ea typeface="Onest"/>
                <a:cs typeface="Onest"/>
              </a:rPr>
              <a:t>Очередь проверок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FF7E040-8670-4D68-9290-1EE341631BD1}"/>
              </a:ext>
            </a:extLst>
          </p:cNvPr>
          <p:cNvSpPr>
            <a:spLocks noGrp="1"/>
          </p:cNvSpPr>
          <p:nvPr/>
        </p:nvSpPr>
        <p:spPr>
          <a:xfrm>
            <a:off x="609600" y="4657725"/>
            <a:ext cx="32385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725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725" b="0">
                <a:solidFill>
                  <a:srgbClr val="15171C"/>
                </a:solidFill>
              </a:defRPr>
            </a:pPr>
            <a:r>
              <a:rPr sz="1725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История сигналов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A201C08-5F36-494A-A205-BD3AF4626B95}"/>
              </a:ext>
            </a:extLst>
          </p:cNvPr>
          <p:cNvSpPr>
            <a:spLocks noGrp="1"/>
          </p:cNvSpPr>
          <p:nvPr/>
        </p:nvSpPr>
        <p:spPr>
          <a:xfrm>
            <a:off x="4714875" y="5238750"/>
            <a:ext cx="3810000" cy="4191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defPPr>
            <a:lvl1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1pPr>
            <a:lvl2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2pPr>
            <a:lvl3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3pPr>
            <a:lvl4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4pPr>
            <a:lvl5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5pPr>
            <a:lvl6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6pPr>
            <a:lvl7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7pPr>
            <a:lvl8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8pPr>
            <a:lvl9pPr>
              <a:defRPr sz="2025" b="1">
                <a:solidFill>
                  <a:srgbClr val="2438E8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2025" b="1">
                <a:solidFill>
                  <a:srgbClr val="2438E8"/>
                </a:solidFill>
              </a:defRPr>
            </a:pPr>
            <a:r>
              <a:rPr sz="2025" b="1">
                <a:solidFill>
                  <a:srgbClr val="2438E8"/>
                </a:solidFill>
                <a:latin typeface="Onest"/>
                <a:ea typeface="Onest"/>
                <a:cs typeface="Onest"/>
              </a:rPr>
              <a:t>ML: 24–72 часа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EA02458-AE9B-4219-A23E-B20FC786C080}"/>
              </a:ext>
            </a:extLst>
          </p:cNvPr>
          <p:cNvSpPr>
            <a:spLocks noGrp="1"/>
          </p:cNvSpPr>
          <p:nvPr/>
        </p:nvSpPr>
        <p:spPr>
          <a:xfrm>
            <a:off x="4714875" y="5724525"/>
            <a:ext cx="38100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21 признак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2036DA7-C39B-46B3-845C-353057E26684}"/>
              </a:ext>
            </a:extLst>
          </p:cNvPr>
          <p:cNvSpPr>
            <a:spLocks noGrp="1"/>
          </p:cNvSpPr>
          <p:nvPr/>
        </p:nvSpPr>
        <p:spPr>
          <a:xfrm>
            <a:off x="8839200" y="5238750"/>
            <a:ext cx="309562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defPPr>
            <a:lvl1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1pPr>
            <a:lvl2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2pPr>
            <a:lvl3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3pPr>
            <a:lvl4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4pPr>
            <a:lvl5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5pPr>
            <a:lvl6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6pPr>
            <a:lvl7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7pPr>
            <a:lvl8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8pPr>
            <a:lvl9pPr>
              <a:defRPr sz="1650" b="0">
                <a:solidFill>
                  <a:srgbClr val="15171C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Причина и заявка.</a:t>
            </a:r>
          </a:p>
          <a:p>
            <a:pPr>
              <a:defRPr sz="1650" b="0">
                <a:solidFill>
                  <a:srgbClr val="15171C"/>
                </a:solidFill>
              </a:defRPr>
            </a:pPr>
            <a:r>
              <a:rPr sz="1650" b="0">
                <a:solidFill>
                  <a:srgbClr val="15171C"/>
                </a:solidFill>
                <a:latin typeface="Onest"/>
                <a:ea typeface="Onest"/>
                <a:cs typeface="Onest"/>
              </a:rPr>
              <a:t>Решение — за диспетчером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AB29597-BD70-4C45-932A-20B5653ACAC0}"/>
              </a:ext>
            </a:extLst>
          </p:cNvPr>
          <p:cNvSpPr>
            <a:spLocks noGrp="1"/>
          </p:cNvSpPr>
          <p:nvPr/>
        </p:nvSpPr>
        <p:spPr>
          <a:xfrm>
            <a:off x="609600" y="6448425"/>
            <a:ext cx="1095375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defPPr>
            <a:lvl1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1pPr>
            <a:lvl2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2pPr>
            <a:lvl3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3pPr>
            <a:lvl4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4pPr>
            <a:lvl5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5pPr>
            <a:lvl6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6pPr>
            <a:lvl7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7pPr>
            <a:lvl8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8pPr>
            <a:lvl9pPr>
              <a:defRPr sz="1575" b="0">
                <a:solidFill>
                  <a:srgbClr val="59616B"/>
                </a:solidFill>
                <a:latin typeface="Onest"/>
                <a:ea typeface="Onest"/>
                <a:cs typeface="Onest"/>
              </a:defRPr>
            </a:lvl9pPr>
          </a:lstStyle>
          <a:p>
            <a:pPr>
              <a:defRPr sz="1575" b="0">
                <a:solidFill>
                  <a:srgbClr val="59616B"/>
                </a:solidFill>
              </a:defRPr>
            </a:pPr>
            <a:r>
              <a:rPr sz="1575" b="0">
                <a:solidFill>
                  <a:srgbClr val="59616B"/>
                </a:solidFill>
                <a:latin typeface="Onest"/>
                <a:ea typeface="Onest"/>
                <a:cs typeface="Onest"/>
              </a:rPr>
              <a:t>Подключение СМВУ — на пилоте, только на чтение</a:t>
            </a:r>
          </a:p>
        </p:txBody>
      </p:sp>
    </p:spTree>
    <p:extLst>
      <p:ext uri="{BB962C8B-B14F-4D97-AF65-F5344CB8AC3E}">
        <p14:creationId xmlns:p14="http://schemas.microsoft.com/office/powerpoint/2010/main" val="379438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НейроКонтур</a:t>
            </a:r>
            <a:endParaRPr lang="ru-RU" sz="4800" dirty="0"/>
          </a:p>
        </p:txBody>
      </p:sp>
      <p:pic>
        <p:nvPicPr>
          <p:cNvPr id="4" name="Департамент ЖКХ города Москвы" descr="Департамент ЖКХ города Москв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6" y="329801"/>
            <a:ext cx="3015784" cy="1082589"/>
          </a:xfrm>
          <a:prstGeom prst="rect">
            <a:avLst/>
          </a:prstGeo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Команда Vector</a:t>
            </a:r>
          </a:p>
          <a:p>
            <a:pPr indent="268288"/>
            <a:r>
              <a:rPr lang="ru-RU"/>
              <a:t>Задача 8. АО «Москоллектор»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" name="Анонимные иллюстрации участников" descr="Анонимные иллюстрации участников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>
                <a:solidFill>
                  <a:schemeClr val="tx1"/>
                </a:solidFill>
              </a:rPr>
              <a:t>Два слоя: быстрые правила и ML-прогноз. Проверка на 21 неделе журнала. Еженедельное переобучение — на пилоте.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 Сетрак Кульбикаян, ИБ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Участников: 2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Одногруппники, команда под кейс ЛЦТ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РКСИ, группа ИБТ-33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Ростов-на-Дону, Ростовская область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>
                <a:solidFill>
                  <a:schemeClr val="accent5"/>
                </a:solidFill>
                <a:latin typeface="+mn-lt"/>
              </a:rPr>
              <a:t>Команда</a:t>
            </a:r>
            <a:br>
              <a:rPr lang="ru-RU" sz="2400">
                <a:solidFill>
                  <a:schemeClr val="accent5"/>
                </a:solidFill>
                <a:latin typeface="+mn-lt"/>
              </a:rPr>
            </a:br>
            <a:r>
              <a:rPr lang="en-US" sz="2400">
                <a:solidFill>
                  <a:schemeClr val="accent5"/>
                </a:solidFill>
                <a:latin typeface="+mn-lt"/>
              </a:rPr>
              <a:t>Vector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>
                <a:solidFill>
                  <a:schemeClr val="tx1"/>
                </a:solidFill>
              </a:rPr>
              <a:t>Ранжирует 11 485 каналов СМВУ на 24–72 часа. Показывает причины риска и готовит черновик заявки. Решение принимает диспетчер.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15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Тимлид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@qxhihi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ML, API, интерфейс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РКСИ, ИБТ-33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>
                <a:solidFill>
                  <a:schemeClr val="accent5"/>
                </a:solidFill>
              </a:rPr>
              <a:t>Сетрак</a:t>
            </a:r>
          </a:p>
          <a:p>
            <a:pPr marL="0" indent="0">
              <a:buNone/>
            </a:pPr>
            <a:r>
              <a:rPr lang="ru-RU" sz="1600" b="1">
                <a:solidFill>
                  <a:schemeClr val="accent5"/>
                </a:solidFill>
              </a:rPr>
              <a:t>Кульбикаян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Аналитик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@Mister_Petrovich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Сценарии и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РКСИ, ИБТ-33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>
                <a:solidFill>
                  <a:schemeClr val="accent5"/>
                </a:solidFill>
              </a:rPr>
              <a:t>Богдан</a:t>
            </a:r>
          </a:p>
          <a:p>
            <a:pPr marL="0" indent="0">
              <a:buNone/>
            </a:pPr>
            <a:r>
              <a:rPr lang="ru-RU" sz="1600" b="1">
                <a:solidFill>
                  <a:schemeClr val="accent5"/>
                </a:solidFill>
              </a:rPr>
              <a:t>Кузниченко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3" name="Анонимный аватар Сетрака" descr="Анонимный аватар Сетрака"/>
          <p:cNvPicPr>
            <a:picLocks noChangeAspect="1"/>
          </p:cNvPicPr>
          <p:nvPr/>
        </p:nvPicPr>
        <p:blipFill>
          <a:blip r:embed="rId4"/>
          <a:srcRect r="50000"/>
          <a:stretch>
            <a:fillRect/>
          </a:stretch>
        </p:blipFill>
        <p:spPr>
          <a:xfrm>
            <a:off x="2886467" y="1826554"/>
            <a:ext cx="1722566" cy="1542401"/>
          </a:xfrm>
          <a:prstGeom prst="rect">
            <a:avLst/>
          </a:prstGeom>
        </p:spPr>
      </p:pic>
      <p:pic>
        <p:nvPicPr>
          <p:cNvPr id="5" name="Анонимный аватар Богдана" descr="Анонимный аватар Богдана"/>
          <p:cNvPicPr>
            <a:picLocks noChangeAspect="1"/>
          </p:cNvPicPr>
          <p:nvPr/>
        </p:nvPicPr>
        <p:blipFill>
          <a:blip r:embed="rId4"/>
          <a:srcRect l="50000"/>
          <a:stretch>
            <a:fillRect/>
          </a:stretch>
        </p:blipFill>
        <p:spPr>
          <a:xfrm>
            <a:off x="7520208" y="1809238"/>
            <a:ext cx="1722567" cy="1559717"/>
          </a:xfrm>
          <a:prstGeom prst="rect">
            <a:avLst/>
          </a:prstGeo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Команда </a:t>
            </a:r>
            <a:r>
              <a:rPr lang="en-US">
                <a:latin typeface="+mn-lt"/>
              </a:rPr>
              <a:t>Vector</a:t>
            </a:r>
            <a:endParaRPr lang="ru-RU" dirty="0">
              <a:latin typeface="+mn-lt"/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505624C7-9A67-655F-575A-112B2728000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>
                <a:latin typeface="+mn-lt"/>
              </a:rPr>
              <a:t>Опыт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Мы одногруппники. Сетрак отвечал за модель, API, интерфейс и деплой. Богдан — за сценарии диспетчера и тестирование.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Нет актов ремонтов: проверяем прогноз по будущим событиям журнала.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Редкие события: сравниваем PR-AUC и точность топ-100 с простым правилом.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Дрейф модели: проверили еженедельное переобучение на 21 неделе.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>
                <a:solidFill>
                  <a:schemeClr val="tx1"/>
                </a:solidFill>
              </a:rPr>
              <a:t>Реальные данные городской инфраструктуры и понятная цель: заранее планировать проверки и сократить лишние выезды.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18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>
                <a:solidFill>
                  <a:schemeClr val="tx1"/>
                </a:solidFill>
              </a:rPr>
              <a:t>Быстрые правила разбирают опасные сигналы.</a:t>
            </a:r>
          </a:p>
          <a:p>
            <a:r>
              <a:rPr lang="ru-RU" sz="1400">
                <a:solidFill>
                  <a:schemeClr val="tx1"/>
                </a:solidFill>
              </a:rPr>
              <a:t>LightGBM использует 21 признак и ранжирует каналы на 24–72 часа.</a:t>
            </a:r>
          </a:p>
          <a:p>
            <a:r>
              <a:rPr lang="ru-RU" sz="1400">
                <a:solidFill>
                  <a:schemeClr val="tx1"/>
                </a:solidFill>
              </a:rPr>
              <a:t>Проверка на 21 неделе: PR-AUC 0,274 с переобучением, в стенде — 0,142.</a:t>
            </a:r>
          </a:p>
          <a:p>
            <a:r>
              <a:rPr lang="ru-RU" sz="1400">
                <a:solidFill>
                  <a:schemeClr val="tx1"/>
                </a:solidFill>
              </a:rPr>
              <a:t>FastAPI, React, Docker. 63 мс на 11 485 каналов по готовым признакам.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>
                <a:solidFill>
                  <a:schemeClr val="tx1"/>
                </a:solidFill>
              </a:rPr>
              <a:t>Диспетчер получает очередь проверок, причины риска и черновик заявки.</a:t>
            </a:r>
          </a:p>
          <a:p>
            <a:r>
              <a:rPr lang="ru-RU" sz="1400">
                <a:solidFill>
                  <a:schemeClr val="tx1"/>
                </a:solidFill>
              </a:rPr>
              <a:t>Пилот: сверка с актами ТОиР, теневой режим, затем советчик диспетчера.</a:t>
            </a:r>
          </a:p>
          <a:p>
            <a:r>
              <a:rPr lang="ru-RU" sz="1400">
                <a:solidFill>
                  <a:schemeClr val="tx1"/>
                </a:solidFill>
              </a:rPr>
              <a:t>СМВУ подключаем только на чтение. Интеграции с системами заказчика пока нет.</a:t>
            </a:r>
          </a:p>
          <a:p>
            <a:r>
              <a:rPr lang="ru-RU" sz="1400">
                <a:solidFill>
                  <a:schemeClr val="tx1"/>
                </a:solidFill>
              </a:rPr>
              <a:t>Эффект измеряем по подтверждённым выездам и затратам.</a:t>
            </a: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2450</Words>
  <Application>Microsoft Office PowerPoint</Application>
  <PresentationFormat>Широкоэкранный</PresentationFormat>
  <Paragraphs>200</Paragraphs>
  <Slides>18</Slides>
  <Notes>15</Notes>
  <HiddenSlides>11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5" baseType="lpstr">
      <vt:lpstr>Onest</vt:lpstr>
      <vt:lpstr>Montserrat</vt:lpstr>
      <vt:lpstr>Arial</vt:lpstr>
      <vt:lpstr>Calibri</vt:lpstr>
      <vt:lpstr>Source Serif 4</vt:lpstr>
      <vt:lpstr>Wingdings</vt:lpstr>
      <vt:lpstr>Для Академия инноваторов 16_9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НейроКонтур</vt:lpstr>
      <vt:lpstr>Команда Vector</vt:lpstr>
      <vt:lpstr>Команда Vector</vt:lpstr>
      <vt:lpstr>Опыт команды</vt:lpstr>
      <vt:lpstr>КОРОТКО О РЕШЕНИИ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YVL</cp:lastModifiedBy>
  <cp:revision>99</cp:revision>
  <dcterms:created xsi:type="dcterms:W3CDTF">2023-05-15T07:36:23Z</dcterms:created>
  <dcterms:modified xsi:type="dcterms:W3CDTF">2026-10-20T13:05:15Z</dcterms:modified>
</cp:coreProperties>
</file>