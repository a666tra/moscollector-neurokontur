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76" r:id="rId13"/>
    <p:sldId id="377" r:id="rId14"/>
    <p:sldId id="378" r:id="rId15"/>
    <p:sldId id="379" r:id="rId16"/>
    <p:sldId id="380" r:id="rId17"/>
    <p:sldId id="381" r:id="rId18"/>
    <p:sldId id="387" r:id="rId24"/>
    <p:sldId id="365" r:id="rId2"/>
    <p:sldId id="366" r:id="rId3"/>
    <p:sldId id="362" r:id="rId4"/>
    <p:sldId id="364" r:id="rId5"/>
    <p:sldId id="375" r:id="rId6"/>
    <p:sldId id="382" r:id="rId19"/>
    <p:sldId id="383" r:id="rId20"/>
    <p:sldId id="384" r:id="rId21"/>
    <p:sldId id="385" r:id="rId22"/>
    <p:sldId id="386" r:id="rId2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>
        <p:scale>
          <a:sx n="100" d="100"/>
          <a:sy n="100" d="100"/>
        </p:scale>
        <p:origin x="252" y="11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8.xml"/><Relationship Id="rId4" Type="http://schemas.openxmlformats.org/officeDocument/2006/relationships/slide" Target="slides/slide9.xml"/><Relationship Id="rId5" Type="http://schemas.openxmlformats.org/officeDocument/2006/relationships/slide" Target="slides/slide10.xml"/><Relationship Id="rId6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9" r:id="rId4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2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3-1.jpe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image" Target="../media/image-3-8.png"/><Relationship Id="rId10" Type="http://schemas.openxmlformats.org/officeDocument/2006/relationships/image" Target="../media/image-3-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image" Target="../media/image-4-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6-1.jpeg"/><Relationship Id="rId3" Type="http://schemas.openxmlformats.org/officeDocument/2006/relationships/image" Target="../media/image-6-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7-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0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0-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Изолинии риска: линии сгущаются и краснеют там, где инцидент ближе">    </p:cNvPr>
          <p:cNvPicPr>
            <a:picLocks noChangeAspect="1"/>
          </p:cNvPicPr>
          <p:nvPr/>
        </p:nvPicPr>
        <p:blipFill>
          <a:blip r:embed="rId2"/>
          <a:srcRect l="12" r="12" t="0" b="0"/>
          <a:stretch/>
        </p:blipFill>
        <p:spPr>
          <a:xfrm>
            <a:off x="3937000" y="0"/>
            <a:ext cx="825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35000"/>
            <a:ext cx="85026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НЕЙРОКОНТУР · АО «МОСКОЛЛЕКТОР» · ЛЦТ 2026 · ЗАДАЧА 8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1200" y="1079500"/>
            <a:ext cx="7194550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0"/>
              </a:lnSpc>
              <a:buNone/>
            </a:pPr>
            <a:r>
              <a:rPr lang="en-US" sz="150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Контуры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1460500" y="2870200"/>
            <a:ext cx="5886450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50"/>
              </a:lnSpc>
              <a:buNone/>
            </a:pPr>
            <a:r>
              <a:rPr lang="en-US" sz="150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риска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812800" y="5080000"/>
            <a:ext cx="5232400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Где в подземных коллекторах Москвы может случиться инцидент </a:t>
            </a:r>
            <a:r>
              <a:rPr lang="en-US" sz="1800" b="1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ближайшие 1–3 дня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6286500"/>
            <a:ext cx="32702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1113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Vector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99124" y="6286500"/>
            <a:ext cx="51800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гуще изолинии — ближе инцидент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096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1010841"/>
            <a:ext cx="10883392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Сегодня диспетчер узнаёт об инциденте,</a:t>
            </a:r>
            <a:endParaRPr lang="en-US" sz="4200" dirty="0"/>
          </a:p>
          <a:p>
            <a:pPr algn="l" indent="0" marL="0">
              <a:lnSpc>
                <a:spcPts val="4620"/>
              </a:lnSpc>
              <a:buNone/>
            </a:pPr>
            <a:r>
              <a:rPr lang="en-US" sz="4200" i="1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когда он уже случился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12800" y="3548459"/>
            <a:ext cx="30740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825 </a:t>
            </a:r>
            <a:r>
              <a:rPr lang="en-US" sz="6400" i="1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км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812800" y="4412059"/>
            <a:ext cx="3074035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подземных коллекторов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03700" y="3548459"/>
            <a:ext cx="30740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11 485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203700" y="4412059"/>
            <a:ext cx="3074035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каналов датчиков СМВУ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94600" y="3548459"/>
            <a:ext cx="389813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≈170 </a:t>
            </a:r>
            <a:r>
              <a:rPr lang="en-US" sz="6400" i="1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тыс.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7594600" y="4412059"/>
            <a:ext cx="3898138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записей в сутки · 30,7 млн за 2026 год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2800" y="5368330"/>
            <a:ext cx="29845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2800" y="5552480"/>
            <a:ext cx="3074035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Реакция — только после срабатывания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203700" y="5368330"/>
            <a:ext cx="29845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3700" y="5552480"/>
            <a:ext cx="3074035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Ложные тревоги и лишние выезды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594600" y="5368330"/>
            <a:ext cx="37846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94600" y="5552480"/>
            <a:ext cx="3898138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 по календарю, а не по состоянию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3556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223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609600"/>
            <a:ext cx="725995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Каждое утро — </a:t>
            </a:r>
            <a:r>
              <a:rPr lang="en-US" sz="32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очередь риска</a:t>
            </a:r>
            <a:r>
              <a:rPr lang="en-US" sz="32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 на 1–3 дня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834249" y="711200"/>
            <a:ext cx="354495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20"/>
              </a:lnSpc>
              <a:buNone/>
            </a:pPr>
            <a:r>
              <a:rPr lang="en-US" sz="2200" i="1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Решение — всегда за диспетчером</a:t>
            </a:r>
            <a:endParaRPr lang="en-US" sz="2200" dirty="0"/>
          </a:p>
        </p:txBody>
      </p:sp>
      <p:pic>
        <p:nvPicPr>
          <p:cNvPr id="5" name="Image 0" descr="Экран «Обстановка»: слева очередь на сегодня, в центре карта коллекторов, справа карточка канала с вероятностью, причинами и кнопками">    </p:cNvPr>
          <p:cNvPicPr>
            <a:picLocks noChangeAspect="1"/>
          </p:cNvPicPr>
          <p:nvPr/>
        </p:nvPicPr>
        <p:blipFill>
          <a:blip r:embed="rId2"/>
          <a:srcRect l="0" r="0" t="60" b="60"/>
          <a:stretch/>
        </p:blipFill>
        <p:spPr>
          <a:xfrm>
            <a:off x="1276350" y="1428750"/>
            <a:ext cx="9639300" cy="5029200"/>
          </a:xfrm>
          <a:prstGeom prst="roundRect">
            <a:avLst>
              <a:gd name="adj" fmla="val 2399"/>
            </a:avLst>
          </a:prstGeom>
          <a:effectLst>
            <a:outerShdw sx="100000" sy="100000" kx="0" ky="0" algn="bl" rotWithShape="0" blurRad="381000" dist="152400" dir="5400000">
              <a:srgbClr val="0F1115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73175" y="1425575"/>
            <a:ext cx="9645650" cy="5035550"/>
          </a:xfrm>
          <a:prstGeom prst="roundRect">
            <a:avLst>
              <a:gd name="adj" fmla="val 2459"/>
            </a:avLst>
          </a:prstGeom>
          <a:noFill/>
          <a:ln w="6350">
            <a:solidFill>
              <a:srgbClr val="CFCABD"/>
            </a:solidFill>
            <a:prstDash val="solid"/>
          </a:ln>
        </p:spPr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24200" y="5048250"/>
            <a:ext cx="673100" cy="101600"/>
          </a:xfrm>
          <a:prstGeom prst="rect">
            <a:avLst/>
          </a:prstGeom>
        </p:spPr>
      </p:pic>
      <p:pic>
        <p:nvPicPr>
          <p:cNvPr id="8" name="Image 2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1898650"/>
            <a:ext cx="101600" cy="1631950"/>
          </a:xfrm>
          <a:prstGeom prst="rect">
            <a:avLst/>
          </a:prstGeom>
        </p:spPr>
      </p:pic>
      <p:pic>
        <p:nvPicPr>
          <p:cNvPr id="9" name="Image 3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77200" y="3721100"/>
            <a:ext cx="444500" cy="101600"/>
          </a:xfrm>
          <a:prstGeom prst="rect">
            <a:avLst/>
          </a:prstGeom>
        </p:spPr>
      </p:pic>
      <p:pic>
        <p:nvPicPr>
          <p:cNvPr id="10" name="Image 4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77200" y="5613400"/>
            <a:ext cx="444500" cy="101600"/>
          </a:xfrm>
          <a:prstGeom prst="rect">
            <a:avLst/>
          </a:prstGeom>
        </p:spPr>
      </p:pic>
      <p:pic>
        <p:nvPicPr>
          <p:cNvPr id="11" name="Image 5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105150" y="5029200"/>
            <a:ext cx="139700" cy="139700"/>
          </a:xfrm>
          <a:prstGeom prst="rect">
            <a:avLst/>
          </a:prstGeom>
        </p:spPr>
      </p:pic>
      <p:pic>
        <p:nvPicPr>
          <p:cNvPr id="12" name="Image 6" descr="ellips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153150" y="3460750"/>
            <a:ext cx="139700" cy="139700"/>
          </a:xfrm>
          <a:prstGeom prst="rect">
            <a:avLst/>
          </a:prstGeom>
        </p:spPr>
      </p:pic>
      <p:pic>
        <p:nvPicPr>
          <p:cNvPr id="13" name="Image 7" descr="ellips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01050" y="3702050"/>
            <a:ext cx="139700" cy="139700"/>
          </a:xfrm>
          <a:prstGeom prst="rect">
            <a:avLst/>
          </a:prstGeom>
        </p:spPr>
      </p:pic>
      <p:pic>
        <p:nvPicPr>
          <p:cNvPr id="14" name="Image 8" descr="ellips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401050" y="5594350"/>
            <a:ext cx="139700" cy="139700"/>
          </a:xfrm>
          <a:prstGeom prst="rect">
            <a:avLst/>
          </a:prstGeom>
        </p:spPr>
      </p:pic>
      <p:sp>
        <p:nvSpPr>
          <p:cNvPr id="15" name="Shape 4"/>
          <p:cNvSpPr/>
          <p:nvPr/>
        </p:nvSpPr>
        <p:spPr>
          <a:xfrm>
            <a:off x="3746500" y="4889500"/>
            <a:ext cx="3429000" cy="438150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/>
        </p:spPr>
      </p:sp>
      <p:sp>
        <p:nvSpPr>
          <p:cNvPr id="16" name="Text 5"/>
          <p:cNvSpPr/>
          <p:nvPr/>
        </p:nvSpPr>
        <p:spPr>
          <a:xfrm>
            <a:off x="3695065" y="4965700"/>
            <a:ext cx="353187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Очередь по вероятности</a:t>
            </a:r>
            <a:endParaRPr lang="en-US" sz="1800" dirty="0"/>
          </a:p>
        </p:txBody>
      </p:sp>
      <p:sp>
        <p:nvSpPr>
          <p:cNvPr id="17" name="Shape 6"/>
          <p:cNvSpPr/>
          <p:nvPr/>
        </p:nvSpPr>
        <p:spPr>
          <a:xfrm>
            <a:off x="5651500" y="1524000"/>
            <a:ext cx="2349500" cy="438150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/>
        </p:spPr>
      </p:sp>
      <p:sp>
        <p:nvSpPr>
          <p:cNvPr id="18" name="Text 7"/>
          <p:cNvSpPr/>
          <p:nvPr/>
        </p:nvSpPr>
        <p:spPr>
          <a:xfrm>
            <a:off x="5616258" y="1600200"/>
            <a:ext cx="241998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Место на карте</a:t>
            </a:r>
            <a:endParaRPr lang="en-US" sz="1800" dirty="0"/>
          </a:p>
        </p:txBody>
      </p:sp>
      <p:sp>
        <p:nvSpPr>
          <p:cNvPr id="19" name="Shape 8"/>
          <p:cNvSpPr/>
          <p:nvPr/>
        </p:nvSpPr>
        <p:spPr>
          <a:xfrm>
            <a:off x="4445000" y="3556000"/>
            <a:ext cx="3683000" cy="438150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/>
        </p:spPr>
      </p:sp>
      <p:sp>
        <p:nvSpPr>
          <p:cNvPr id="20" name="Text 9"/>
          <p:cNvSpPr/>
          <p:nvPr/>
        </p:nvSpPr>
        <p:spPr>
          <a:xfrm>
            <a:off x="4389755" y="3632200"/>
            <a:ext cx="379349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Причина простыми словами</a:t>
            </a:r>
            <a:endParaRPr lang="en-US" sz="1800" dirty="0"/>
          </a:p>
        </p:txBody>
      </p:sp>
      <p:sp>
        <p:nvSpPr>
          <p:cNvPr id="21" name="Shape 10"/>
          <p:cNvSpPr/>
          <p:nvPr/>
        </p:nvSpPr>
        <p:spPr>
          <a:xfrm>
            <a:off x="4826000" y="5448300"/>
            <a:ext cx="3302000" cy="438150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/>
        </p:spPr>
      </p:sp>
      <p:sp>
        <p:nvSpPr>
          <p:cNvPr id="22" name="Text 11"/>
          <p:cNvSpPr/>
          <p:nvPr/>
        </p:nvSpPr>
        <p:spPr>
          <a:xfrm>
            <a:off x="4776470" y="5524500"/>
            <a:ext cx="34010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Заявка ТО в один клик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096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223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КАК УСТРОЕНО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985441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От журнала датчиков — к решению диспетчера </a:t>
            </a:r>
            <a:r>
              <a:rPr lang="en-US" sz="36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и обратно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9150" y="2442170"/>
            <a:ext cx="1816100" cy="1638300"/>
          </a:xfrm>
          <a:prstGeom prst="roundRect">
            <a:avLst>
              <a:gd name="adj" fmla="val 8915"/>
            </a:avLst>
          </a:prstGeom>
          <a:solidFill>
            <a:srgbClr val="FBFAF6"/>
          </a:solidFill>
          <a:ln w="1270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77900" y="2674640"/>
            <a:ext cx="154940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Журнал СМВУ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77900" y="3276501"/>
            <a:ext cx="15494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 чтение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003550" y="2442170"/>
            <a:ext cx="1816100" cy="1638300"/>
          </a:xfrm>
          <a:prstGeom prst="roundRect">
            <a:avLst>
              <a:gd name="adj" fmla="val 8915"/>
            </a:avLst>
          </a:prstGeom>
          <a:solidFill>
            <a:srgbClr val="FBFAF6"/>
          </a:solidFill>
          <a:ln w="1270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162300" y="2806005"/>
            <a:ext cx="1549400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21 признак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162300" y="3145036"/>
            <a:ext cx="15494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 24 ч и 7 дней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87950" y="2442170"/>
            <a:ext cx="1816100" cy="1638300"/>
          </a:xfrm>
          <a:prstGeom prst="roundRect">
            <a:avLst>
              <a:gd name="adj" fmla="val 8915"/>
            </a:avLst>
          </a:prstGeom>
          <a:solidFill>
            <a:srgbClr val="2233FF"/>
          </a:solidFill>
          <a:ln w="12700">
            <a:solidFill>
              <a:srgbClr val="2233F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6700" y="2806005"/>
            <a:ext cx="1549400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LightGBM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46700" y="3145036"/>
            <a:ext cx="15494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DE0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+ калибровка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72350" y="2442170"/>
            <a:ext cx="1816100" cy="1638300"/>
          </a:xfrm>
          <a:prstGeom prst="roundRect">
            <a:avLst>
              <a:gd name="adj" fmla="val 8915"/>
            </a:avLst>
          </a:prstGeom>
          <a:solidFill>
            <a:srgbClr val="FBFAF6"/>
          </a:solidFill>
          <a:ln w="1270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531100" y="2948880"/>
            <a:ext cx="1549400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31100" y="3287911"/>
            <a:ext cx="1549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FastAPI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56750" y="2442170"/>
            <a:ext cx="1816100" cy="1638300"/>
          </a:xfrm>
          <a:prstGeom prst="roundRect">
            <a:avLst>
              <a:gd name="adj" fmla="val 8915"/>
            </a:avLst>
          </a:prstGeom>
          <a:solidFill>
            <a:srgbClr val="FBFAF6"/>
          </a:solidFill>
          <a:ln w="1270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715500" y="2817515"/>
            <a:ext cx="154940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Пульт диспетчера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715500" y="3419376"/>
            <a:ext cx="1549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React</a:t>
            </a:r>
            <a:endParaRPr lang="en-US" sz="1800" dirty="0"/>
          </a:p>
        </p:txBody>
      </p:sp>
      <p:pic>
        <p:nvPicPr>
          <p:cNvPr id="20" name="Image 1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16200" y="3197820"/>
            <a:ext cx="406400" cy="127000"/>
          </a:xfrm>
          <a:prstGeom prst="rect">
            <a:avLst/>
          </a:prstGeom>
        </p:spPr>
      </p:pic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00600" y="3197820"/>
            <a:ext cx="406400" cy="127000"/>
          </a:xfrm>
          <a:prstGeom prst="rect">
            <a:avLst/>
          </a:prstGeom>
        </p:spPr>
      </p:pic>
      <p:pic>
        <p:nvPicPr>
          <p:cNvPr id="22" name="Image 3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85000" y="3197820"/>
            <a:ext cx="406400" cy="127000"/>
          </a:xfrm>
          <a:prstGeom prst="rect">
            <a:avLst/>
          </a:prstGeom>
        </p:spPr>
      </p:pic>
      <p:pic>
        <p:nvPicPr>
          <p:cNvPr id="23" name="Image 4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169400" y="3197820"/>
            <a:ext cx="406400" cy="127000"/>
          </a:xfrm>
          <a:prstGeom prst="rect">
            <a:avLst/>
          </a:prstGeom>
        </p:spPr>
      </p:pic>
      <p:pic>
        <p:nvPicPr>
          <p:cNvPr id="24" name="Image 5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01300" y="4061420"/>
            <a:ext cx="127000" cy="660400"/>
          </a:xfrm>
          <a:prstGeom prst="rect">
            <a:avLst/>
          </a:prstGeom>
        </p:spPr>
      </p:pic>
      <p:pic>
        <p:nvPicPr>
          <p:cNvPr id="25" name="Image 6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32500" y="4594820"/>
            <a:ext cx="4495800" cy="127000"/>
          </a:xfrm>
          <a:prstGeom prst="rect">
            <a:avLst/>
          </a:prstGeom>
        </p:spPr>
      </p:pic>
      <p:pic>
        <p:nvPicPr>
          <p:cNvPr id="26" name="Image 7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32500" y="4074120"/>
            <a:ext cx="127000" cy="6477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997200" y="4264620"/>
            <a:ext cx="2877820" cy="1214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частота и тревоги · дребезг · молчание канала · сбросы часов · значения</a:t>
            </a:r>
            <a:endParaRPr lang="en-US" sz="1800" dirty="0"/>
          </a:p>
        </p:txBody>
      </p:sp>
      <p:sp>
        <p:nvSpPr>
          <p:cNvPr id="28" name="Text 18"/>
          <p:cNvSpPr/>
          <p:nvPr/>
        </p:nvSpPr>
        <p:spPr>
          <a:xfrm>
            <a:off x="6030468" y="4823420"/>
            <a:ext cx="4499864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решения диспетчера → журнал → </a:t>
            </a:r>
            <a:r>
              <a:rPr lang="en-US" sz="1800" b="1" dirty="0">
                <a:solidFill>
                  <a:srgbClr val="2233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дообучение на пилоте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812800" y="592842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spc="100" kern="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Быстрый контур правил + LightGBM · FastAPI · React · Docker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482600"/>
            <a:ext cx="98107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ДОКАЗАТЕЛЬСТВО · 21 НЕДЕЛЯ · 04.02–24.06.2026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35000" y="698500"/>
            <a:ext cx="39243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×29</a:t>
            </a:r>
            <a:endParaRPr lang="en-US" sz="18000" dirty="0"/>
          </a:p>
        </p:txBody>
      </p:sp>
      <p:sp>
        <p:nvSpPr>
          <p:cNvPr id="5" name="Text 2"/>
          <p:cNvSpPr/>
          <p:nvPr/>
        </p:nvSpPr>
        <p:spPr>
          <a:xfrm>
            <a:off x="4699000" y="787400"/>
            <a:ext cx="6880606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Точность топ-100 — 38 %: </a:t>
            </a:r>
            <a:r>
              <a:rPr lang="en-US" sz="2600" i="1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в 29 раз выше</a:t>
            </a:r>
            <a:r>
              <a:rPr lang="en-US" sz="26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 случайного выбора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699000" y="1615281"/>
            <a:ext cx="6880606" cy="91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Каждую среду прогноз строился только по прошлому и сверялся с журналом СМВУ через 24–72 ч: неисправности, сбои связи, опасные газ и температура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699000" y="2614712"/>
            <a:ext cx="14605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699000" y="2697262"/>
            <a:ext cx="1511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0,84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699000" y="3141762"/>
            <a:ext cx="15113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ROC-AUC с дообучением (в стенде 0,65)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99200" y="2614712"/>
            <a:ext cx="21590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99200" y="2697262"/>
            <a:ext cx="222377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0,27 </a:t>
            </a:r>
            <a:r>
              <a:rPr lang="en-US" sz="3000" dirty="0">
                <a:solidFill>
                  <a:srgbClr val="8B90A0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/ 0,14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299200" y="3141762"/>
            <a:ext cx="222377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PR-AUC с дообучением / без него (так в стенде)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597900" y="2614712"/>
            <a:ext cx="27813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597900" y="2697262"/>
            <a:ext cx="286473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0,76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597900" y="3141762"/>
            <a:ext cx="2864739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ROC-AUC там, где правило «сбоил за 7 дней» бесполезно (59 % событий)</a:t>
            </a:r>
            <a:endParaRPr lang="en-US" sz="1600" dirty="0"/>
          </a:p>
        </p:txBody>
      </p:sp>
      <p:pic>
        <p:nvPicPr>
          <p:cNvPr id="16" name="Image 1" descr="График PR-AUC по неделям с 04.02 по 24.06: кобальтовая толстая линия — модель, янтарная — правило «сбоил за 7 дней», серый пунктир — без дообучения, серые точки — случайно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4191000"/>
            <a:ext cx="10566400" cy="1905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93100" y="4762500"/>
            <a:ext cx="317868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C95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модель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293100" y="5080000"/>
            <a:ext cx="317868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9AA0A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без дообучения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293100" y="5397500"/>
            <a:ext cx="317868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D98A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правило «сбоил за 7 дней»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293100" y="5715000"/>
            <a:ext cx="3178683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A9AEB9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случайно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812800" y="5867400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0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04.02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667500" y="5867400"/>
            <a:ext cx="1320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0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24.06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12800" y="6146800"/>
            <a:ext cx="1088339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9AA0A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PR-AUC по неделям · события размечены по журналу СМВУ, актов ремонтов в данных нет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609600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223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СЦЕНАРИЙ ДИСПЕТЧЕРА ИЗ ТЗ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889000"/>
            <a:ext cx="65405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Три шага </a:t>
            </a:r>
            <a:r>
              <a:rPr lang="en-US" sz="36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до решения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457200" cy="947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4400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1841500"/>
            <a:ext cx="3610356" cy="30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Видит канал и вероятность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71600" y="2169716"/>
            <a:ext cx="3610356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очередь на сегодня, опасные — сверху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3043436"/>
            <a:ext cx="457200" cy="122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4400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371600" y="3043436"/>
            <a:ext cx="3610356" cy="580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Смотрит «почему так думаем»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71600" y="3649067"/>
            <a:ext cx="3610356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причины простыми словами и место на карте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522788"/>
            <a:ext cx="457200" cy="1245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4400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371600" y="4522788"/>
            <a:ext cx="3610356" cy="30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Выбирает, что делать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71600" y="4851003"/>
            <a:ext cx="3610356" cy="91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ремонт · отбой с причиной · выезд бригады → журнал решений</a:t>
            </a:r>
            <a:endParaRPr lang="en-US" sz="1800" dirty="0"/>
          </a:p>
        </p:txBody>
      </p:sp>
      <p:pic>
        <p:nvPicPr>
          <p:cNvPr id="13" name="Image 0" descr="Карточка канала: вероятность 71 %, охранная зона, блок «Почему так думаем» с двумя причинами и рекомендация модели">    </p:cNvPr>
          <p:cNvPicPr>
            <a:picLocks noChangeAspect="1"/>
          </p:cNvPicPr>
          <p:nvPr/>
        </p:nvPicPr>
        <p:blipFill>
          <a:blip r:embed="rId2"/>
          <a:srcRect l="0" r="0" t="33" b="33"/>
          <a:stretch/>
        </p:blipFill>
        <p:spPr>
          <a:xfrm>
            <a:off x="5080000" y="1841500"/>
            <a:ext cx="4445000" cy="4381500"/>
          </a:xfrm>
          <a:prstGeom prst="roundRect">
            <a:avLst>
              <a:gd name="adj" fmla="val 4058"/>
            </a:avLst>
          </a:prstGeom>
          <a:effectLst>
            <a:outerShdw sx="100000" sy="100000" kx="0" ky="0" algn="bl" rotWithShape="0" blurRad="444500" dist="190500" dir="5400000">
              <a:srgbClr val="0F1115">
                <a:alpha val="35000"/>
              </a:srgbClr>
            </a:outerShdw>
          </a:effectLst>
        </p:spPr>
      </p:pic>
      <p:sp>
        <p:nvSpPr>
          <p:cNvPr id="14" name="Shape 11"/>
          <p:cNvSpPr/>
          <p:nvPr/>
        </p:nvSpPr>
        <p:spPr>
          <a:xfrm>
            <a:off x="5257800" y="4076700"/>
            <a:ext cx="4089400" cy="1727200"/>
          </a:xfrm>
          <a:prstGeom prst="roundRect">
            <a:avLst>
              <a:gd name="adj" fmla="val 6618"/>
            </a:avLst>
          </a:prstGeom>
          <a:noFill/>
          <a:ln w="25400">
            <a:solidFill>
              <a:srgbClr val="8C95FF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Пульт диспетчера на телефоне в светлой теме">    </p:cNvPr>
          <p:cNvPicPr>
            <a:picLocks noChangeAspect="1"/>
          </p:cNvPicPr>
          <p:nvPr/>
        </p:nvPicPr>
        <p:blipFill>
          <a:blip r:embed="rId3"/>
          <a:srcRect l="1277" r="1277" t="0" b="0"/>
          <a:stretch/>
        </p:blipFill>
        <p:spPr>
          <a:xfrm>
            <a:off x="9817100" y="2133600"/>
            <a:ext cx="1524000" cy="3384550"/>
          </a:xfrm>
          <a:prstGeom prst="roundRect">
            <a:avLst>
              <a:gd name="adj" fmla="val 12500"/>
            </a:avLst>
          </a:prstGeom>
        </p:spPr>
      </p:pic>
      <p:sp>
        <p:nvSpPr>
          <p:cNvPr id="16" name="Shape 12"/>
          <p:cNvSpPr/>
          <p:nvPr/>
        </p:nvSpPr>
        <p:spPr>
          <a:xfrm>
            <a:off x="9798050" y="2114550"/>
            <a:ext cx="1562100" cy="3422650"/>
          </a:xfrm>
          <a:prstGeom prst="roundRect">
            <a:avLst>
              <a:gd name="adj" fmla="val 13415"/>
            </a:avLst>
          </a:prstGeom>
          <a:noFill/>
          <a:ln w="38100">
            <a:solidFill>
              <a:srgbClr val="11131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9445625" y="5715000"/>
            <a:ext cx="19621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светлая и тёмная тема · телефон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00" y="2550000"/>
            <a:ext cx="6600000" cy="1350000"/>
          </a:xfrm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i="0" dirty="0">
                <a:solidFill>
                  <a:srgbClr val="F2F2F2"/>
                </a:solidFill>
              </a:rPr>
              <a:t>НейроКонтур</a:t>
            </a:r>
            <a:endParaRPr lang="ru-RU" sz="60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0000" y="4420000"/>
            <a:ext cx="6300000" cy="1300000"/>
          </a:xfrm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800" b="1" i="0" dirty="0">
                <a:solidFill>
                  <a:srgbClr val="F2F2F2"/>
                </a:solidFill>
              </a:rPr>
              <a:t>Команда Vector</a:t>
            </a:r>
            <a:endParaRPr lang="ru-RU" sz="2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dirty="0">
                <a:solidFill>
                  <a:schemeClr val="accent2"/>
                </a:solidFill>
              </a:rPr>
              <a:t>Задача 8 · АО «Москоллектор»</a:t>
            </a:r>
            <a:endParaRPr lang="ru-RU" sz="2000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1" y="0"/>
            <a:ext cx="3278571" cy="1800000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Логотип постановщика задачи" descr="Логотип Департамента жилищно-коммунального хозяйства города Москвы — постановщика задачи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800000"/>
            <a:ext cx="2228571" cy="800000"/>
          </a:xfrm>
          <a:prstGeom prst="rect">
            <a:avLst/>
          </a:prstGeom>
        </p:spPr>
      </p:pic>
      <p:sp>
        <p:nvSpPr>
          <p:cNvPr id="106" name="Подпись постановщика"/>
          <p:cNvSpPr txBox="1"/>
          <p:nvPr/>
        </p:nvSpPr>
        <p:spPr>
          <a:xfrm>
            <a:off x="500000" y="36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i="0" spc="120" dirty="0">
                <a:solidFill>
                  <a:schemeClr val="accent2"/>
                </a:solidFill>
              </a:rPr>
              <a:t>ПОСТАНОВЩИК ЗАДАЧИ</a:t>
            </a:r>
            <a:endParaRPr lang="ru-RU" sz="1050" dirty="0"/>
          </a:p>
        </p:txBody>
      </p:sp>
      <p:sp>
        <p:nvSpPr>
          <p:cNvPr id="107" name="Акцентная линия"/>
          <p:cNvSpPr/>
          <p:nvPr/>
        </p:nvSpPr>
        <p:spPr>
          <a:xfrm>
            <a:off x="500000" y="4140000"/>
            <a:ext cx="950000" cy="75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Блок под фото команды"/>
          <p:cNvSpPr/>
          <p:nvPr/>
        </p:nvSpPr>
        <p:spPr>
          <a:xfrm>
            <a:off x="0" y="335267"/>
            <a:ext cx="6456363" cy="3214733"/>
          </a:xfrm>
          <a:prstGeom prst="rect">
            <a:avLst/>
          </a:prstGeom>
          <a:gradFill rotWithShape="1">
            <a:gsLst>
              <a:gs pos="0">
                <a:srgbClr val="EEE6F4"/>
              </a:gs>
              <a:gs pos="100000">
                <a:srgbClr val="D9C9E8"/>
              </a:gs>
            </a:gsLst>
            <a:lin ang="2700000" scaled="0"/>
          </a:gradFill>
          <a:ln>
            <a:noFill/>
          </a:ln>
        </p:spPr>
        <p:txBody>
          <a:bodyPr wrap="square" lIns="500000" tIns="0" rIns="0" bIns="28000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spc="200" dirty="0">
                <a:solidFill>
                  <a:srgbClr val="8A83D1"/>
                </a:solidFill>
              </a:rPr>
              <a:t>ФОТО КОМАНДЫ</a:t>
            </a:r>
            <a:endParaRPr lang="ru-RU" sz="1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3550000"/>
            <a:ext cx="6456363" cy="33080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20000" y="1740000"/>
            <a:ext cx="5000000" cy="38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chemeClr val="accent5"/>
                </a:solidFill>
              </a:rPr>
              <a:t>Краткое описание решения</a:t>
            </a:r>
            <a:endParaRPr lang="ru-RU" sz="1700" dirty="0"/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20000" y="4700000"/>
            <a:ext cx="5000000" cy="165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250" b="0" i="0" dirty="0">
                <a:solidFill>
                  <a:srgbClr val="1C1D22"/>
                </a:solidFill>
              </a:rPr>
              <a:t>Проверена строго вперёд по времени на </a:t>
            </a:r>
            <a:r>
              <a:rPr lang="ru-RU" sz="1250" b="1" i="0" dirty="0">
                <a:solidFill>
                  <a:schemeClr val="accent5"/>
                </a:solidFill>
              </a:rPr>
              <a:t>21 неделе</a:t>
            </a:r>
            <a:r>
              <a:rPr lang="ru-RU" sz="1250" b="0" i="0" dirty="0">
                <a:solidFill>
                  <a:srgbClr val="1C1D22"/>
                </a:solidFill>
              </a:rPr>
              <a:t> реального журнала 2026 г.:</a:t>
            </a:r>
            <a:br>
              <a:rPr lang="ru-RU" sz="1250" dirty="0"/>
            </a:br>
            <a:r>
              <a:rPr lang="ru-RU" sz="1250" b="1" i="0" dirty="0">
                <a:solidFill>
                  <a:schemeClr val="accent5"/>
                </a:solidFill>
              </a:rPr>
              <a:t>ROC-AUC 0,84 (с дообучением)</a:t>
            </a:r>
            <a:r>
              <a:rPr lang="ru-RU" sz="1250" b="0" i="0" dirty="0">
                <a:solidFill>
                  <a:srgbClr val="1C1D22"/>
                </a:solidFill>
              </a:rPr>
              <a:t>, точность топ-100 — </a:t>
            </a:r>
            <a:r>
              <a:rPr lang="ru-RU" sz="1250" b="1" i="0" dirty="0">
                <a:solidFill>
                  <a:schemeClr val="accent5"/>
                </a:solidFill>
              </a:rPr>
              <a:t>38 %</a:t>
            </a:r>
            <a:r>
              <a:rPr lang="ru-RU" sz="1250" b="0" i="0" dirty="0">
                <a:solidFill>
                  <a:srgbClr val="1C1D22"/>
                </a:solidFill>
              </a:rPr>
              <a:t> (в 29 раз выше случайной)</a:t>
            </a:r>
            <a:endParaRPr lang="ru-RU" sz="1250" dirty="0"/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250" b="0" i="0" dirty="0">
                <a:solidFill>
                  <a:srgbClr val="1C1D22"/>
                </a:solidFill>
              </a:rPr>
              <a:t>Еженедельное дообучение — задача пилота (проверено бэктестом); без него модель в стенде слабее простого </a:t>
            </a:r>
            <a:r>
              <a:rPr lang="ru-RU" sz="1250" b="1" i="0" dirty="0">
                <a:solidFill>
                  <a:schemeClr val="accent5"/>
                </a:solidFill>
              </a:rPr>
              <a:t>правила</a:t>
            </a:r>
            <a:endParaRPr lang="ru-RU" sz="1250" dirty="0"/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250" b="0" i="0" dirty="0">
                <a:solidFill>
                  <a:srgbClr val="1C1D22"/>
                </a:solidFill>
              </a:rPr>
              <a:t>Весь парк пересчитывается за </a:t>
            </a:r>
            <a:r>
              <a:rPr lang="ru-RU" sz="1250" b="1" i="0" dirty="0">
                <a:solidFill>
                  <a:schemeClr val="accent5"/>
                </a:solidFill>
              </a:rPr>
              <a:t>63 мс</a:t>
            </a:r>
            <a:endParaRPr lang="ru-RU" sz="1250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500000" y="4420000"/>
            <a:ext cx="5600000" cy="230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Капитан:</a:t>
            </a:r>
            <a:r>
              <a:rPr lang="ru-RU" sz="1400" b="0" i="0" dirty="0">
                <a:solidFill>
                  <a:srgbClr val="1C1D22"/>
                </a:solidFill>
              </a:rPr>
              <a:t> Сетрак Кульбикаян, информационная безопасность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Участников:</a:t>
            </a:r>
            <a:r>
              <a:rPr lang="ru-RU" sz="1400" b="0" i="0" dirty="0">
                <a:solidFill>
                  <a:srgbClr val="1C1D22"/>
                </a:solidFill>
              </a:rPr>
              <a:t> 2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О команде:</a:t>
            </a:r>
            <a:r>
              <a:rPr lang="ru-RU" sz="1400" b="0" i="0" dirty="0">
                <a:solidFill>
                  <a:srgbClr val="1C1D22"/>
                </a:solidFill>
              </a:rPr>
              <a:t> одногруппники, собрались под кейс ЛЦТ 2026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Учёба:</a:t>
            </a:r>
            <a:r>
              <a:rPr lang="ru-RU" sz="1400" b="0" i="0" dirty="0">
                <a:solidFill>
                  <a:srgbClr val="1C1D22"/>
                </a:solidFill>
              </a:rPr>
              <a:t> РКСИ, группа ИБТ-33</a:t>
            </a:r>
            <a:endParaRPr lang="ru-RU" sz="1400" dirty="0"/>
          </a:p>
          <a:p>
            <a:pPr marL="228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400" b="1" i="0" dirty="0">
                <a:solidFill>
                  <a:schemeClr val="accent5"/>
                </a:solidFill>
              </a:rPr>
              <a:t>Город и регион:</a:t>
            </a:r>
            <a:r>
              <a:rPr lang="ru-RU" sz="1400" b="0" i="0" dirty="0">
                <a:solidFill>
                  <a:srgbClr val="1C1D22"/>
                </a:solidFill>
              </a:rPr>
              <a:t> Ростов-на-Дону, Ростовская область</a:t>
            </a:r>
            <a:endParaRPr lang="ru-RU" sz="1400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500000" y="3750000"/>
            <a:ext cx="4500000" cy="42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chemeClr val="accent5"/>
                </a:solidFill>
              </a:rPr>
              <a:t>О команде</a:t>
            </a:r>
            <a:endParaRPr lang="ru-RU" sz="2000" dirty="0"/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0000" y="950000"/>
            <a:ext cx="5000000" cy="500000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5"/>
                </a:solidFill>
              </a:rPr>
              <a:t>КОМАНДА «VECTOR»</a:t>
            </a:r>
            <a:endParaRPr lang="ru-RU" sz="2400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20000" y="1620000"/>
            <a:ext cx="5000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20000" y="4150000"/>
            <a:ext cx="5000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500000" y="4270000"/>
            <a:ext cx="54500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20000" y="4270000"/>
            <a:ext cx="5000000" cy="38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chemeClr val="accent5"/>
                </a:solidFill>
              </a:rPr>
              <a:t>Уникальность решения</a:t>
            </a:r>
            <a:endParaRPr lang="ru-RU" sz="1700" dirty="0"/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20000" y="2160000"/>
            <a:ext cx="5000000" cy="18500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Сервис каждое утро ранжирует </a:t>
            </a:r>
            <a:r>
              <a:rPr lang="ru-RU" sz="1300" b="1" i="0" dirty="0">
                <a:solidFill>
                  <a:schemeClr val="accent5"/>
                </a:solidFill>
              </a:rPr>
              <a:t>11 485 каналов СМВУ</a:t>
            </a:r>
            <a:r>
              <a:rPr lang="ru-RU" sz="1300" b="0" i="0" dirty="0">
                <a:solidFill>
                  <a:srgbClr val="1C1D22"/>
                </a:solidFill>
              </a:rPr>
              <a:t> по вероятности инцидента в ближайшие </a:t>
            </a:r>
            <a:r>
              <a:rPr lang="ru-RU" sz="1300" b="1" i="0" dirty="0">
                <a:solidFill>
                  <a:schemeClr val="accent5"/>
                </a:solidFill>
              </a:rPr>
              <a:t>24–72 часа</a:t>
            </a:r>
            <a:r>
              <a:rPr lang="ru-RU" sz="1300" b="0" i="0" dirty="0">
                <a:solidFill>
                  <a:srgbClr val="1C1D22"/>
                </a:solidFill>
              </a:rPr>
              <a:t>, показывает их на карте, объясняет причину простыми словами и готовит </a:t>
            </a:r>
            <a:r>
              <a:rPr lang="ru-RU" sz="1300" b="1" i="0" dirty="0">
                <a:solidFill>
                  <a:schemeClr val="accent5"/>
                </a:solidFill>
              </a:rPr>
              <a:t>черновик заявки на ТО</a:t>
            </a:r>
            <a:r>
              <a:rPr lang="ru-RU" sz="1300" b="0" i="0" dirty="0">
                <a:solidFill>
                  <a:srgbClr val="1C1D22"/>
                </a:solidFill>
              </a:rPr>
              <a:t>.</a:t>
            </a:r>
            <a:endParaRPr lang="ru-RU" sz="1300" dirty="0"/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Решение — ремонт, выезд или отбой — </a:t>
            </a:r>
            <a:r>
              <a:rPr lang="ru-RU" sz="1300" b="1" i="0" dirty="0">
                <a:solidFill>
                  <a:schemeClr val="accent5"/>
                </a:solidFill>
              </a:rPr>
              <a:t>за диспетчером</a:t>
            </a:r>
            <a:r>
              <a:rPr lang="ru-RU" sz="1300" b="0" i="0" dirty="0">
                <a:solidFill>
                  <a:srgbClr val="1C1D22"/>
                </a:solidFill>
              </a:rPr>
              <a:t>; оно записывается в журнал, на пилоте пойдёт в дообучение.</a:t>
            </a:r>
            <a:endParaRPr lang="ru-RU" sz="1300" dirty="0"/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20" name="Акцент блока фото"/>
          <p:cNvSpPr/>
          <p:nvPr/>
        </p:nvSpPr>
        <p:spPr>
          <a:xfrm>
            <a:off x="0" y="335267"/>
            <a:ext cx="90000" cy="32147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8" name="Рисунок 37" descr="Изображение выглядит как снимок экрана, Фиолетовый, фиолетов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5365573-66E3-6C1C-DD97-4E6757BB23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" r="1683"/>
          <a:stretch>
            <a:fillRect/>
          </a:stretch>
        </p:blipFill>
        <p:spPr>
          <a:xfrm>
            <a:off x="87313" y="334963"/>
            <a:ext cx="6369050" cy="3214687"/>
          </a:xfr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6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650000" cy="620919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F2F2"/>
                </a:solidFill>
              </a:rPr>
              <a:t>КОМАНДА «VECTOR»</a:t>
            </a:r>
            <a:endParaRPr lang="ru-RU" sz="2000" dirty="0"/>
          </a:p>
        </p:txBody>
      </p:sp>
      <p:sp>
        <p:nvSpPr>
          <p:cNvPr id="168" name="Карточка Сетрак Кульбикаян"/>
          <p:cNvSpPr/>
          <p:nvPr/>
        </p:nvSpPr>
        <p:spPr>
          <a:xfrm>
            <a:off x="346076" y="1360000"/>
            <a:ext cx="5600000" cy="4900000"/>
          </a:xfrm>
          <a:prstGeom prst="roundRect">
            <a:avLst>
              <a:gd name="adj" fmla="val 5200"/>
            </a:avLst>
          </a:prstGeom>
          <a:solidFill>
            <a:schemeClr val="bg1"/>
          </a:solidFill>
          <a:ln>
            <a:noFill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endParaRPr lang="ru-RU"/>
          </a:p>
        </p:txBody>
      </p:sp>
      <p:sp>
        <p:nvSpPr>
          <p:cNvPr id="169" name="Аватар Сетрак Кульбикаян"/>
          <p:cNvSpPr/>
          <p:nvPr/>
        </p:nvSpPr>
        <p:spPr>
          <a:xfrm>
            <a:off x="666076" y="1680000"/>
            <a:ext cx="2000000" cy="2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0" dirty="0">
                <a:solidFill>
                  <a:srgbClr val="F2F2F2"/>
                </a:solidFill>
              </a:rPr>
              <a:t>СК</a:t>
            </a:r>
            <a:endParaRPr lang="ru-RU" sz="5400" dirty="0"/>
          </a:p>
        </p:txBody>
      </p:sp>
      <p:pic>
        <p:nvPicPr>
          <p:cNvPr id="5" name="Рисунок 4" descr="Изображение выглядит как бутылка, человек, одежда, солнцезащитные оч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4AEAF4-0F59-3B75-FE20-3964E04D3A6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8" r="10828"/>
          <a:stretch>
            <a:fillRect/>
          </a:stretch>
        </p:blipFill>
        <p:spPr>
          <a:xfrm>
            <a:off x="666750" y="1679575"/>
            <a:ext cx="1998663" cy="2551113"/>
          </a:xfrm>
          <a:prstGeom prst="roundRect">
            <a:avLst>
              <a:gd name="adj" fmla="val 8000"/>
            </a:avLst>
          </a:prstGeom>
        </p:spPr>
      </p:pic>
      <p:sp>
        <p:nvSpPr>
          <p:cNvPr id="171" name="Роль"/>
          <p:cNvSpPr/>
          <p:nvPr/>
        </p:nvSpPr>
        <p:spPr>
          <a:xfrm>
            <a:off x="2966076" y="1710000"/>
            <a:ext cx="1250000" cy="32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i="0" spc="100" dirty="0">
                <a:solidFill>
                  <a:schemeClr val="bg1"/>
                </a:solidFill>
              </a:rPr>
              <a:t>ТИМЛИД</a:t>
            </a:r>
            <a:endParaRPr lang="ru-RU" sz="1150" dirty="0"/>
          </a:p>
        </p:txBody>
      </p:sp>
      <p:sp>
        <p:nvSpPr>
          <p:cNvPr id="172" name="Имя"/>
          <p:cNvSpPr txBox="1"/>
          <p:nvPr/>
        </p:nvSpPr>
        <p:spPr>
          <a:xfrm>
            <a:off x="2966076" y="2180000"/>
            <a:ext cx="26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0" dirty="0">
                <a:solidFill>
                  <a:schemeClr val="accent5"/>
                </a:solidFill>
              </a:rPr>
              <a:t>Сетрак Кульбикаян</a:t>
            </a:r>
            <a:endParaRPr lang="ru-RU" sz="2500" dirty="0"/>
          </a:p>
        </p:txBody>
      </p:sp>
      <p:sp>
        <p:nvSpPr>
          <p:cNvPr id="173" name="Telegram"/>
          <p:cNvSpPr txBox="1"/>
          <p:nvPr/>
        </p:nvSpPr>
        <p:spPr>
          <a:xfrm>
            <a:off x="2966076" y="3300000"/>
            <a:ext cx="2959774" cy="122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spc="60" dirty="0">
                <a:solidFill>
                  <a:srgbClr val="6E5C85"/>
                </a:solidFill>
              </a:rPr>
              <a:t>Telegram</a:t>
            </a:r>
            <a:endParaRPr lang="ru-RU" sz="1200" dirty="0"/>
          </a:p>
          <a:p>
            <a:pPr>
              <a:spcBef>
                <a:spcPts val="200"/>
              </a:spcBef>
            </a:pPr>
            <a:r>
              <a:rPr lang="ru-RU" sz="1700" b="1" i="0" dirty="0">
                <a:solidFill>
                  <a:srgbClr val="1C1D22"/>
                </a:solidFill>
              </a:rPr>
              <a:t>@qxhihi</a:t>
            </a:r>
            <a:endParaRPr lang="en-US" sz="1700" b="1" i="0" dirty="0">
              <a:solidFill>
                <a:srgbClr val="1C1D22"/>
              </a:solidFill>
            </a:endParaRPr>
          </a:p>
          <a:p>
            <a:pPr>
              <a:spcBef>
                <a:spcPts val="200"/>
              </a:spcBef>
            </a:pPr>
            <a:br>
              <a:rPr lang="ru-RU" sz="1700" b="1" i="0" dirty="0">
                <a:solidFill>
                  <a:srgbClr val="1C1D22"/>
                </a:solidFill>
              </a:rPr>
            </a:br>
            <a:r>
              <a:rPr lang="en-US" sz="1200" b="0" i="0" spc="60" dirty="0">
                <a:solidFill>
                  <a:srgbClr val="6E5C85"/>
                </a:solidFill>
              </a:rPr>
              <a:t>Portfolio</a:t>
            </a:r>
            <a:endParaRPr lang="ru-RU" sz="1200" dirty="0"/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C1D22"/>
                </a:solidFill>
              </a:rPr>
              <a:t>qxhihi-portfolio.onrender.com</a:t>
            </a:r>
            <a:endParaRPr lang="ru-RU" sz="1400" dirty="0"/>
          </a:p>
        </p:txBody>
      </p:sp>
      <p:sp>
        <p:nvSpPr>
          <p:cNvPr id="174" name="Разделитель"/>
          <p:cNvSpPr/>
          <p:nvPr/>
        </p:nvSpPr>
        <p:spPr>
          <a:xfrm>
            <a:off x="666076" y="4510000"/>
            <a:ext cx="4960000" cy="12700"/>
          </a:xfrm>
          <a:prstGeom prst="rect">
            <a:avLst/>
          </a:prstGeom>
          <a:solidFill>
            <a:srgbClr val="DCCEE4">
              <a:alpha val="100000"/>
            </a:srgbClr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5" name="Задачи"/>
          <p:cNvSpPr txBox="1"/>
          <p:nvPr/>
        </p:nvSpPr>
        <p:spPr>
          <a:xfrm>
            <a:off x="666076" y="4670000"/>
            <a:ext cx="496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spc="100" dirty="0">
                <a:solidFill>
                  <a:srgbClr val="6E5C85"/>
                </a:solidFill>
              </a:rPr>
              <a:t>ЗАДАЧИ В КОМАНДЕ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ML-модель, бэкенд, интерфейс, деплой</a:t>
            </a:r>
            <a:endParaRPr lang="ru-RU" sz="1600" dirty="0"/>
          </a:p>
        </p:txBody>
      </p:sp>
      <p:sp>
        <p:nvSpPr>
          <p:cNvPr id="176" name="Учёба"/>
          <p:cNvSpPr txBox="1"/>
          <p:nvPr/>
        </p:nvSpPr>
        <p:spPr>
          <a:xfrm>
            <a:off x="666076" y="5530000"/>
            <a:ext cx="496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spc="100" dirty="0">
                <a:solidFill>
                  <a:srgbClr val="6E5C85"/>
                </a:solidFill>
              </a:rPr>
              <a:t>УЧЁБА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Информационная безопасность, РКСИ,</a:t>
            </a:r>
            <a:endParaRPr lang="en-US" sz="1600" b="0" i="0" dirty="0">
              <a:solidFill>
                <a:srgbClr val="1C1D22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ИБТ-33</a:t>
            </a:r>
            <a:endParaRPr lang="ru-RU" sz="1600" dirty="0"/>
          </a:p>
        </p:txBody>
      </p:sp>
      <p:sp>
        <p:nvSpPr>
          <p:cNvPr id="177" name="Карточка Богдан Кузниченко"/>
          <p:cNvSpPr/>
          <p:nvPr/>
        </p:nvSpPr>
        <p:spPr>
          <a:xfrm>
            <a:off x="6245924" y="1360000"/>
            <a:ext cx="5600000" cy="4900000"/>
          </a:xfrm>
          <a:prstGeom prst="roundRect">
            <a:avLst>
              <a:gd name="adj" fmla="val 5200"/>
            </a:avLst>
          </a:prstGeom>
          <a:solidFill>
            <a:schemeClr val="bg1"/>
          </a:solidFill>
          <a:ln>
            <a:noFill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txBody>
          <a:bodyPr rtlCol="0" anchor="ctr"/>
          <a:lstStyle/>
          <a:p>
            <a:endParaRPr lang="ru-RU"/>
          </a:p>
        </p:txBody>
      </p:sp>
      <p:sp>
        <p:nvSpPr>
          <p:cNvPr id="178" name="Аватар Богдан Кузниченко"/>
          <p:cNvSpPr/>
          <p:nvPr/>
        </p:nvSpPr>
        <p:spPr>
          <a:xfrm>
            <a:off x="6565924" y="1680000"/>
            <a:ext cx="2000000" cy="2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i="0" dirty="0">
                <a:solidFill>
                  <a:srgbClr val="F2F2F2"/>
                </a:solidFill>
              </a:rPr>
              <a:t>БК</a:t>
            </a:r>
            <a:endParaRPr lang="ru-RU" sz="5400" dirty="0"/>
          </a:p>
        </p:txBody>
      </p:sp>
      <p:pic>
        <p:nvPicPr>
          <p:cNvPr id="8" name="Рисунок 7" descr="Изображение выглядит как Человеческое лицо, одежда, человек, на открытом воздухе">
            <a:extLst>
              <a:ext uri="{FF2B5EF4-FFF2-40B4-BE49-F238E27FC236}">
                <a16:creationId xmlns:a16="http://schemas.microsoft.com/office/drawing/2014/main" id="{2C3521C5-DEEA-B23C-D088-3547AA5408A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7" r="10797"/>
          <a:stretch>
            <a:fillRect/>
          </a:stretch>
        </p:blipFill>
        <p:spPr>
          <a:xfrm>
            <a:off x="6565900" y="1679575"/>
            <a:ext cx="2000250" cy="2551113"/>
          </a:xfrm>
          <a:prstGeom prst="roundRect">
            <a:avLst>
              <a:gd name="adj" fmla="val 8000"/>
            </a:avLst>
          </a:prstGeom>
        </p:spPr>
      </p:pic>
      <p:sp>
        <p:nvSpPr>
          <p:cNvPr id="180" name="Роль"/>
          <p:cNvSpPr/>
          <p:nvPr/>
        </p:nvSpPr>
        <p:spPr>
          <a:xfrm>
            <a:off x="8865924" y="1710000"/>
            <a:ext cx="1500000" cy="32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i="0" spc="100" dirty="0">
                <a:solidFill>
                  <a:schemeClr val="bg1"/>
                </a:solidFill>
              </a:rPr>
              <a:t>АНАЛИТИК</a:t>
            </a:r>
            <a:endParaRPr lang="ru-RU" sz="1150" dirty="0"/>
          </a:p>
        </p:txBody>
      </p:sp>
      <p:sp>
        <p:nvSpPr>
          <p:cNvPr id="181" name="Имя"/>
          <p:cNvSpPr txBox="1"/>
          <p:nvPr/>
        </p:nvSpPr>
        <p:spPr>
          <a:xfrm>
            <a:off x="8865924" y="2180000"/>
            <a:ext cx="266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500" b="1" i="0" dirty="0">
                <a:solidFill>
                  <a:schemeClr val="accent5"/>
                </a:solidFill>
              </a:rPr>
              <a:t>Богдан Кузниченко</a:t>
            </a:r>
            <a:endParaRPr lang="ru-RU" sz="2500" dirty="0"/>
          </a:p>
        </p:txBody>
      </p:sp>
      <p:sp>
        <p:nvSpPr>
          <p:cNvPr id="182" name="Telegram"/>
          <p:cNvSpPr txBox="1"/>
          <p:nvPr/>
        </p:nvSpPr>
        <p:spPr>
          <a:xfrm>
            <a:off x="8865924" y="3300000"/>
            <a:ext cx="266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spc="60" dirty="0">
                <a:solidFill>
                  <a:srgbClr val="6E5C85"/>
                </a:solidFill>
              </a:rPr>
              <a:t>Telegram</a:t>
            </a:r>
            <a:endParaRPr lang="ru-RU" sz="1200" dirty="0"/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1C1D22"/>
                </a:solidFill>
              </a:rPr>
              <a:t>@Mister_Petrovich</a:t>
            </a:r>
            <a:endParaRPr lang="ru-RU" sz="1700" dirty="0"/>
          </a:p>
        </p:txBody>
      </p:sp>
      <p:sp>
        <p:nvSpPr>
          <p:cNvPr id="183" name="Разделитель"/>
          <p:cNvSpPr/>
          <p:nvPr/>
        </p:nvSpPr>
        <p:spPr>
          <a:xfrm>
            <a:off x="6565924" y="4510000"/>
            <a:ext cx="4960000" cy="12700"/>
          </a:xfrm>
          <a:prstGeom prst="rect">
            <a:avLst/>
          </a:prstGeom>
          <a:solidFill>
            <a:srgbClr val="DCCEE4">
              <a:alpha val="100000"/>
            </a:srgbClr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4" name="Задачи"/>
          <p:cNvSpPr txBox="1"/>
          <p:nvPr/>
        </p:nvSpPr>
        <p:spPr>
          <a:xfrm>
            <a:off x="6565924" y="4670000"/>
            <a:ext cx="496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spc="100" dirty="0">
                <a:solidFill>
                  <a:srgbClr val="6E5C85"/>
                </a:solidFill>
              </a:rPr>
              <a:t>ЗАДАЧИ В КОМАНДЕ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Сценарии диспетчера по ТЗ, тестирование</a:t>
            </a:r>
            <a:endParaRPr lang="ru-RU" sz="1600" dirty="0"/>
          </a:p>
        </p:txBody>
      </p:sp>
      <p:sp>
        <p:nvSpPr>
          <p:cNvPr id="185" name="Учёба"/>
          <p:cNvSpPr txBox="1"/>
          <p:nvPr/>
        </p:nvSpPr>
        <p:spPr>
          <a:xfrm>
            <a:off x="6565924" y="5530000"/>
            <a:ext cx="496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spc="100" dirty="0">
                <a:solidFill>
                  <a:srgbClr val="6E5C85"/>
                </a:solidFill>
              </a:rPr>
              <a:t>УЧЁБА</a:t>
            </a:r>
            <a:endParaRPr lang="ru-RU" sz="1100" dirty="0"/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Информационная безопасность, РКСИ,</a:t>
            </a:r>
            <a:endParaRPr lang="en-US" sz="1600" b="0" i="0" dirty="0">
              <a:solidFill>
                <a:srgbClr val="1C1D22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1C1D22"/>
                </a:solidFill>
              </a:rPr>
              <a:t>ИБТ-33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6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650000" cy="620919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F2F2"/>
                </a:solidFill>
              </a:rPr>
              <a:t>КОМАНДА «VECTOR»</a:t>
            </a:r>
            <a:endParaRPr lang="ru-RU" sz="2000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560000"/>
            <a:ext cx="1123315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3720000"/>
            <a:ext cx="1123315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200000"/>
            <a:ext cx="1123315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5" name="Номер 1"/>
          <p:cNvSpPr txBox="1"/>
          <p:nvPr/>
        </p:nvSpPr>
        <p:spPr>
          <a:xfrm>
            <a:off x="10957038" y="1300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1"/>
                </a:solidFill>
              </a:rPr>
              <a:t>01</a:t>
            </a:r>
            <a:endParaRPr lang="ru-RU" sz="2400" dirty="0"/>
          </a:p>
        </p:txBody>
      </p:sp>
      <p:sp>
        <p:nvSpPr>
          <p:cNvPr id="146" name="Номер 2"/>
          <p:cNvSpPr txBox="1"/>
          <p:nvPr/>
        </p:nvSpPr>
        <p:spPr>
          <a:xfrm>
            <a:off x="10957038" y="2660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1"/>
                </a:solidFill>
              </a:rPr>
              <a:t>02</a:t>
            </a:r>
            <a:endParaRPr lang="ru-RU" sz="2400" dirty="0"/>
          </a:p>
        </p:txBody>
      </p:sp>
      <p:sp>
        <p:nvSpPr>
          <p:cNvPr id="147" name="Номер 3"/>
          <p:cNvSpPr txBox="1"/>
          <p:nvPr/>
        </p:nvSpPr>
        <p:spPr>
          <a:xfrm>
            <a:off x="10957038" y="3820000"/>
            <a:ext cx="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chemeClr val="accent1"/>
                </a:solidFill>
              </a:rPr>
              <a:t>03</a:t>
            </a:r>
            <a:endParaRPr lang="ru-RU" sz="2400" dirty="0"/>
          </a:p>
        </p:txBody>
      </p:sp>
      <p:sp>
        <p:nvSpPr>
          <p:cNvPr id="148" name="История"/>
          <p:cNvSpPr txBox="1"/>
          <p:nvPr/>
        </p:nvSpPr>
        <p:spPr>
          <a:xfrm>
            <a:off x="533607" y="1300000"/>
            <a:ext cx="9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chemeClr val="accent5"/>
                </a:solidFill>
              </a:rPr>
              <a:t>Краткая история команды</a:t>
            </a:r>
            <a:endParaRPr lang="ru-RU" sz="1800" dirty="0"/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50" b="0" i="0" dirty="0">
                <a:solidFill>
                  <a:srgbClr val="1C1D22"/>
                </a:solidFill>
              </a:rPr>
              <a:t>Мы одногруппники. На ЛЦТ 2026 пошли вдвоём: Сетрак вёл разработку целиком — от разбора журнала СМВУ до модели, API и интерфейса, Богдан — сценарии диспетчера и тестирование.</a:t>
            </a:r>
            <a:endParaRPr lang="ru-RU" sz="1450" dirty="0"/>
          </a:p>
        </p:txBody>
      </p:sp>
      <p:sp>
        <p:nvSpPr>
          <p:cNvPr id="149" name="Почему"/>
          <p:cNvSpPr txBox="1"/>
          <p:nvPr/>
        </p:nvSpPr>
        <p:spPr>
          <a:xfrm>
            <a:off x="533607" y="2660000"/>
            <a:ext cx="96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chemeClr val="accent5"/>
                </a:solidFill>
              </a:rPr>
              <a:t>Почему мы выбрали эту задачу</a:t>
            </a:r>
            <a:endParaRPr lang="ru-RU" sz="1800" dirty="0"/>
          </a:p>
          <a:p>
            <a:pPr marL="0" indent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450" b="0" i="0" dirty="0">
                <a:solidFill>
                  <a:srgbClr val="1C1D22"/>
                </a:solidFill>
              </a:rPr>
              <a:t>Реальные данные городской инфраструктуры и понятный эффект — меньше внезапных аварий и лишних выездов бригад.</a:t>
            </a:r>
            <a:endParaRPr lang="ru-RU" sz="1450" dirty="0"/>
          </a:p>
        </p:txBody>
      </p:sp>
      <p:sp>
        <p:nvSpPr>
          <p:cNvPr id="150" name="Сложности"/>
          <p:cNvSpPr txBox="1"/>
          <p:nvPr/>
        </p:nvSpPr>
        <p:spPr>
          <a:xfrm>
            <a:off x="533607" y="3820000"/>
            <a:ext cx="96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chemeClr val="accent5"/>
                </a:solidFill>
              </a:rPr>
              <a:t>Основные сложности и как мы их преодолели</a:t>
            </a:r>
            <a:endParaRPr lang="ru-RU" sz="1800" dirty="0"/>
          </a:p>
        </p:txBody>
      </p:sp>
      <p:sp>
        <p:nvSpPr>
          <p:cNvPr id="151" name="Карточка сложности 1"/>
          <p:cNvSpPr/>
          <p:nvPr/>
        </p:nvSpPr>
        <p:spPr>
          <a:xfrm>
            <a:off x="623888" y="4320000"/>
            <a:ext cx="3577716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CCEE4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2" name="Номер сложности 1"/>
          <p:cNvSpPr/>
          <p:nvPr/>
        </p:nvSpPr>
        <p:spPr>
          <a:xfrm>
            <a:off x="863888" y="4540000"/>
            <a:ext cx="420000" cy="4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chemeClr val="bg1"/>
                </a:solidFill>
              </a:rPr>
              <a:t>1</a:t>
            </a:r>
            <a:endParaRPr lang="ru-RU" sz="1500" dirty="0"/>
          </a:p>
        </p:txBody>
      </p:sp>
      <p:sp>
        <p:nvSpPr>
          <p:cNvPr id="153" name="Текст сложности 1"/>
          <p:cNvSpPr txBox="1"/>
          <p:nvPr/>
        </p:nvSpPr>
        <p:spPr>
          <a:xfrm>
            <a:off x="863888" y="5080000"/>
            <a:ext cx="3097716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В данных нет актов ремонтов — разметили события по журналу СМВУ (неисправности, сбои связи, опасные газ и температура).</a:t>
            </a:r>
            <a:endParaRPr lang="ru-RU" sz="1300" dirty="0"/>
          </a:p>
        </p:txBody>
      </p:sp>
      <p:sp>
        <p:nvSpPr>
          <p:cNvPr id="154" name="Карточка сложности 2"/>
          <p:cNvSpPr/>
          <p:nvPr/>
        </p:nvSpPr>
        <p:spPr>
          <a:xfrm>
            <a:off x="4451604" y="4320000"/>
            <a:ext cx="3577716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CCEE4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5" name="Номер сложности 2"/>
          <p:cNvSpPr/>
          <p:nvPr/>
        </p:nvSpPr>
        <p:spPr>
          <a:xfrm>
            <a:off x="4691604" y="4540000"/>
            <a:ext cx="420000" cy="4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chemeClr val="bg1"/>
                </a:solidFill>
              </a:rPr>
              <a:t>2</a:t>
            </a:r>
            <a:endParaRPr lang="ru-RU" sz="1500" dirty="0"/>
          </a:p>
        </p:txBody>
      </p:sp>
      <p:sp>
        <p:nvSpPr>
          <p:cNvPr id="156" name="Текст сложности 2"/>
          <p:cNvSpPr txBox="1"/>
          <p:nvPr/>
        </p:nvSpPr>
        <p:spPr>
          <a:xfrm>
            <a:off x="4691604" y="5080000"/>
            <a:ext cx="3097716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Событий ~1,3 % — оцениваем</a:t>
            </a:r>
            <a:br>
              <a:rPr lang="ru-RU" sz="1300" dirty="0"/>
            </a:br>
            <a:r>
              <a:rPr lang="ru-RU" sz="1300" b="0" i="0" dirty="0">
                <a:solidFill>
                  <a:srgbClr val="1C1D22"/>
                </a:solidFill>
              </a:rPr>
              <a:t>PR-AUC и точность топ-K, а не accuracy.</a:t>
            </a:r>
            <a:endParaRPr lang="ru-RU" sz="1300" dirty="0"/>
          </a:p>
        </p:txBody>
      </p:sp>
      <p:sp>
        <p:nvSpPr>
          <p:cNvPr id="157" name="Карточка сложности 3"/>
          <p:cNvSpPr/>
          <p:nvPr/>
        </p:nvSpPr>
        <p:spPr>
          <a:xfrm>
            <a:off x="8279320" y="4320000"/>
            <a:ext cx="3577716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CCEE4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8" name="Номер сложности 3"/>
          <p:cNvSpPr/>
          <p:nvPr/>
        </p:nvSpPr>
        <p:spPr>
          <a:xfrm>
            <a:off x="8519320" y="4540000"/>
            <a:ext cx="420000" cy="4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chemeClr val="bg1"/>
                </a:solidFill>
              </a:rPr>
              <a:t>3</a:t>
            </a:r>
            <a:endParaRPr lang="ru-RU" sz="1500" dirty="0"/>
          </a:p>
        </p:txBody>
      </p:sp>
      <p:sp>
        <p:nvSpPr>
          <p:cNvPr id="159" name="Текст сложности 3"/>
          <p:cNvSpPr txBox="1"/>
          <p:nvPr/>
        </p:nvSpPr>
        <p:spPr>
          <a:xfrm>
            <a:off x="8519320" y="5080000"/>
            <a:ext cx="3097716" cy="10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C1D22"/>
                </a:solidFill>
              </a:rPr>
              <a:t>Журнал 30,7 млн строк не отсортирован по времени — сортируем и проверяем модель на 21 неделе строго вперёд по времени.</a:t>
            </a:r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85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25924" y="1300000"/>
            <a:ext cx="5620000" cy="4950000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300000"/>
            <a:ext cx="5620000" cy="4950000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dist="76200" dir="5400000" algn="t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324562"/>
            <a:ext cx="3850000" cy="620919"/>
          </a:xfrm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F2F2"/>
                </a:solidFill>
              </a:rPr>
              <a:t>КОРОТКО О РЕШЕНИИ</a:t>
            </a:r>
            <a:endParaRPr lang="ru-RU" sz="2000" dirty="0"/>
          </a:p>
        </p:txBody>
      </p:sp>
      <p:sp>
        <p:nvSpPr>
          <p:cNvPr id="128" name="Техническая суть решения"/>
          <p:cNvSpPr txBox="1"/>
          <p:nvPr/>
        </p:nvSpPr>
        <p:spPr>
          <a:xfrm>
            <a:off x="706076" y="1600000"/>
            <a:ext cx="4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chemeClr val="accent5"/>
                </a:solidFill>
              </a:rPr>
              <a:t>Техническая суть решения</a:t>
            </a:r>
            <a:endParaRPr lang="ru-RU" sz="2200" dirty="0"/>
          </a:p>
        </p:txBody>
      </p:sp>
      <p:sp>
        <p:nvSpPr>
          <p:cNvPr id="129" name="Акцент"/>
          <p:cNvSpPr/>
          <p:nvPr/>
        </p:nvSpPr>
        <p:spPr>
          <a:xfrm>
            <a:off x="706076" y="2160000"/>
            <a:ext cx="600000" cy="55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0" name="Техническая суть решения — текст"/>
          <p:cNvSpPr txBox="1"/>
          <p:nvPr/>
        </p:nvSpPr>
        <p:spPr>
          <a:xfrm>
            <a:off x="706076" y="2420000"/>
            <a:ext cx="4900000" cy="3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LightGBM по </a:t>
            </a:r>
            <a:r>
              <a:rPr lang="ru-RU" sz="1600" b="1" i="0" dirty="0">
                <a:solidFill>
                  <a:schemeClr val="accent5"/>
                </a:solidFill>
              </a:rPr>
              <a:t>21 признаку</a:t>
            </a:r>
            <a:r>
              <a:rPr lang="ru-RU" sz="1600" b="0" i="0" dirty="0">
                <a:solidFill>
                  <a:srgbClr val="1C1D22"/>
                </a:solidFill>
              </a:rPr>
              <a:t> телеметрии (частота и тревоги, дребезг, молчание канала, сбросы часов, значения)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Калибровка; еженедельное дообучение — на пилоте, </a:t>
            </a:r>
            <a:r>
              <a:rPr lang="ru-RU" sz="1600" b="1" i="0" dirty="0">
                <a:solidFill>
                  <a:schemeClr val="accent5"/>
                </a:solidFill>
              </a:rPr>
              <a:t>ROC-AUC 0,84</a:t>
            </a:r>
            <a:r>
              <a:rPr lang="ru-RU" sz="1600" b="0" i="0" dirty="0">
                <a:solidFill>
                  <a:srgbClr val="1C1D22"/>
                </a:solidFill>
              </a:rPr>
              <a:t>, топ-100 — </a:t>
            </a:r>
            <a:r>
              <a:rPr lang="ru-RU" sz="1600" b="1" i="0" dirty="0">
                <a:solidFill>
                  <a:schemeClr val="accent5"/>
                </a:solidFill>
              </a:rPr>
              <a:t>38 %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REST API (FastAPI, Swagger) + React: карта рисков, очередь, карточка канала, заявки ТО, журнал решений с SHA-256; быстрый контур правил (газ, температура, пожар, дребезг, связь)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Пересчёт </a:t>
            </a:r>
            <a:r>
              <a:rPr lang="ru-RU" sz="1600" b="1" i="0" dirty="0">
                <a:solidFill>
                  <a:schemeClr val="accent5"/>
                </a:solidFill>
              </a:rPr>
              <a:t>11 485 каналов за 63 мс</a:t>
            </a:r>
            <a:r>
              <a:rPr lang="ru-RU" sz="1600" b="0" i="0" dirty="0">
                <a:solidFill>
                  <a:srgbClr val="1C1D22"/>
                </a:solidFill>
              </a:rPr>
              <a:t> (норматив 300 с), Docker, публичный стенд</a:t>
            </a:r>
            <a:endParaRPr lang="ru-RU" sz="1600" dirty="0"/>
          </a:p>
        </p:txBody>
      </p:sp>
      <p:sp>
        <p:nvSpPr>
          <p:cNvPr id="131" name="Маркетинговая суть решения"/>
          <p:cNvSpPr txBox="1"/>
          <p:nvPr/>
        </p:nvSpPr>
        <p:spPr>
          <a:xfrm>
            <a:off x="6585924" y="1600000"/>
            <a:ext cx="49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chemeClr val="accent5"/>
                </a:solidFill>
              </a:rPr>
              <a:t>Маркетинговая суть решения</a:t>
            </a:r>
            <a:endParaRPr lang="ru-RU" sz="2200" dirty="0"/>
          </a:p>
        </p:txBody>
      </p:sp>
      <p:sp>
        <p:nvSpPr>
          <p:cNvPr id="132" name="Акцент"/>
          <p:cNvSpPr/>
          <p:nvPr/>
        </p:nvSpPr>
        <p:spPr>
          <a:xfrm>
            <a:off x="6585924" y="2160000"/>
            <a:ext cx="600000" cy="55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3" name="Маркетинговая суть решения — текст"/>
          <p:cNvSpPr txBox="1"/>
          <p:nvPr/>
        </p:nvSpPr>
        <p:spPr>
          <a:xfrm>
            <a:off x="6585924" y="2420000"/>
            <a:ext cx="4900000" cy="3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Диспетчер узнаёт о вероятном инциденте </a:t>
            </a:r>
            <a:r>
              <a:rPr lang="ru-RU" sz="1600" b="1" i="0" dirty="0">
                <a:solidFill>
                  <a:schemeClr val="accent5"/>
                </a:solidFill>
              </a:rPr>
              <a:t>за 1–3 дня</a:t>
            </a:r>
            <a:r>
              <a:rPr lang="ru-RU" sz="1600" b="0" i="0" dirty="0">
                <a:solidFill>
                  <a:srgbClr val="1C1D22"/>
                </a:solidFill>
              </a:rPr>
              <a:t> и сразу получает черновик заявки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Меньше внезапных аварий и лишних выездов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Пилот: переобучение на актах ТОиР, </a:t>
            </a:r>
            <a:r>
              <a:rPr lang="ru-RU" sz="1600" b="1" i="0" dirty="0">
                <a:solidFill>
                  <a:schemeClr val="accent5"/>
                </a:solidFill>
              </a:rPr>
              <a:t>1–2 месяца</a:t>
            </a:r>
            <a:r>
              <a:rPr lang="ru-RU" sz="1600" b="0" i="0" dirty="0">
                <a:solidFill>
                  <a:srgbClr val="1C1D22"/>
                </a:solidFill>
              </a:rPr>
              <a:t> теневого режима рядом с ОДС, эффект по реальным выездам</a:t>
            </a:r>
            <a:endParaRPr lang="ru-RU" sz="1600" dirty="0"/>
          </a:p>
          <a:p>
            <a:pPr marL="228600" indent="-2286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" pitchFamily="2" charset="2"/>
              <a:buChar char="§"/>
            </a:pPr>
            <a:r>
              <a:rPr lang="ru-RU" sz="1600" b="0" i="0" dirty="0">
                <a:solidFill>
                  <a:srgbClr val="1C1D22"/>
                </a:solidFill>
              </a:rPr>
              <a:t>Далее интеграция с СМВУ и CMMS только на чтение, AD/LDAP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096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БЫСТРО И ВСТРАИВАЕТСЯ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1200" y="825500"/>
            <a:ext cx="340106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0"/>
              </a:lnSpc>
              <a:buNone/>
            </a:pPr>
            <a:r>
              <a:rPr lang="en-US" sz="20000" i="1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63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3746500" y="2070100"/>
            <a:ext cx="196215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i="1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мс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812800" y="3810000"/>
            <a:ext cx="523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4D7D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пересчёт всех 11 485 каналов — при нормативе ТЗ </a:t>
            </a:r>
            <a:r>
              <a:rPr lang="en-US" sz="2000" b="1" dirty="0">
                <a:solidFill>
                  <a:srgbClr val="D4D7DD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300 секунд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350000" y="958850"/>
            <a:ext cx="5029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0000" y="1104900"/>
            <a:ext cx="5180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1,5 мс</a:t>
            </a:r>
            <a:r>
              <a:rPr lang="en-US" sz="20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2000" dirty="0">
                <a:solidFill>
                  <a:srgbClr val="9AA0A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на один канал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350000" y="1568450"/>
            <a:ext cx="5029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0000" y="1714500"/>
            <a:ext cx="5180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REST API</a:t>
            </a:r>
            <a:r>
              <a:rPr lang="en-US" sz="20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2000" dirty="0">
                <a:solidFill>
                  <a:srgbClr val="9AA0A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+ Swagger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350000" y="2178050"/>
            <a:ext cx="5029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0000" y="2324100"/>
            <a:ext cx="5180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Docker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350000" y="2787650"/>
            <a:ext cx="5029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0000" y="2933700"/>
            <a:ext cx="51800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Интеграция </a:t>
            </a: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 на чтение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350000" y="3397250"/>
            <a:ext cx="5029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0000" y="4324350"/>
            <a:ext cx="5029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0000" y="3543300"/>
            <a:ext cx="518007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Настраиваемые пороги </a:t>
            </a:r>
            <a:r>
              <a:rPr lang="en-US" sz="2000" dirty="0">
                <a:solidFill>
                  <a:srgbClr val="9AA0A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риск, дребезг, газ, стоимость выезда и ТО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2800" y="49530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63 мс — весь парк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46800" y="4953000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AA0A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300 с — норматив ТЗ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12800" y="5435600"/>
            <a:ext cx="10566400" cy="127000"/>
          </a:xfrm>
          <a:prstGeom prst="roundRect">
            <a:avLst>
              <a:gd name="adj" fmla="val 50000"/>
            </a:avLst>
          </a:prstGeom>
          <a:solidFill>
            <a:srgbClr val="23262D"/>
          </a:solidFill>
          <a:ln/>
        </p:spPr>
      </p:sp>
      <p:sp>
        <p:nvSpPr>
          <p:cNvPr id="21" name="Shape 18"/>
          <p:cNvSpPr/>
          <p:nvPr/>
        </p:nvSpPr>
        <p:spPr>
          <a:xfrm>
            <a:off x="812800" y="5359400"/>
            <a:ext cx="38100" cy="279400"/>
          </a:xfrm>
          <a:prstGeom prst="rect">
            <a:avLst/>
          </a:prstGeom>
          <a:solidFill>
            <a:srgbClr val="8C95FF"/>
          </a:solidFill>
          <a:ln/>
        </p:spPr>
      </p:sp>
      <p:sp>
        <p:nvSpPr>
          <p:cNvPr id="22" name="Text 19"/>
          <p:cNvSpPr/>
          <p:nvPr/>
        </p:nvSpPr>
        <p:spPr>
          <a:xfrm>
            <a:off x="812800" y="576580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9AA0A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масштабе: вся полоса — 300 секунд, синяя черта — наш пересчёт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558800"/>
            <a:ext cx="58864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223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СООТВЕТСТВИЕ ТЗ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812800"/>
            <a:ext cx="915670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Требования ТЗ → </a:t>
            </a:r>
            <a:r>
              <a:rPr lang="en-US" sz="36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где в решении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1590675"/>
            <a:ext cx="10560050" cy="4438650"/>
          </a:xfrm>
          <a:prstGeom prst="roundRect">
            <a:avLst>
              <a:gd name="adj" fmla="val 3362"/>
            </a:avLst>
          </a:prstGeom>
          <a:solidFill>
            <a:srgbClr val="FBFAF6"/>
          </a:solidFill>
          <a:ln w="6350">
            <a:solidFill>
              <a:srgbClr val="CFCABD"/>
            </a:solidFill>
            <a:prstDash val="solid"/>
          </a:ln>
          <a:effectLst>
            <a:outerShdw sx="100000" sy="100000" kx="0" ky="0" algn="bl" rotWithShape="0" blurRad="317500" dist="127000" dir="5400000">
              <a:srgbClr val="0F1115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3150" y="1672630"/>
            <a:ext cx="44475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ТРЕБОВАНИЕ ТЗ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91150" y="1672630"/>
            <a:ext cx="51800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ГДЕ В РЕШЕНИИ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73150" y="2003425"/>
            <a:ext cx="10045700" cy="0"/>
          </a:xfrm>
          <a:prstGeom prst="line">
            <a:avLst/>
          </a:prstGeom>
          <a:noFill/>
          <a:ln w="6350">
            <a:solidFill>
              <a:srgbClr val="DDD8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3150" y="2188865"/>
            <a:ext cx="44475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 ≥ 24 ч с вероятностью</a:t>
            </a:r>
            <a:endParaRPr lang="en-US" sz="1900" dirty="0"/>
          </a:p>
        </p:txBody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91150" y="2193925"/>
            <a:ext cx="279400" cy="279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48350" y="2181225"/>
            <a:ext cx="51800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Экран «Обстановка»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1073150" y="2663825"/>
            <a:ext cx="10045700" cy="0"/>
          </a:xfrm>
          <a:prstGeom prst="line">
            <a:avLst/>
          </a:prstGeom>
          <a:noFill/>
          <a:ln w="6350">
            <a:solidFill>
              <a:srgbClr val="DDD8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3150" y="2849265"/>
            <a:ext cx="44475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Локация и тип</a:t>
            </a:r>
            <a:endParaRPr lang="en-US" sz="1900" dirty="0"/>
          </a:p>
        </p:txBody>
      </p:sp>
      <p:pic>
        <p:nvPicPr>
          <p:cNvPr id="14" name="Image 2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91150" y="2854325"/>
            <a:ext cx="279400" cy="279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48350" y="2841625"/>
            <a:ext cx="51800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Карта, объект, подсистема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1073150" y="3324225"/>
            <a:ext cx="10045700" cy="0"/>
          </a:xfrm>
          <a:prstGeom prst="line">
            <a:avLst/>
          </a:prstGeom>
          <a:noFill/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73150" y="3509665"/>
            <a:ext cx="44475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Рекомендации ТО</a:t>
            </a:r>
            <a:endParaRPr lang="en-US" sz="1900" dirty="0"/>
          </a:p>
        </p:txBody>
      </p:sp>
      <p:pic>
        <p:nvPicPr>
          <p:cNvPr id="18" name="Image 3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91150" y="3514725"/>
            <a:ext cx="279400" cy="279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48350" y="3502025"/>
            <a:ext cx="51800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Черновики заявок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1073150" y="3984625"/>
            <a:ext cx="10045700" cy="0"/>
          </a:xfrm>
          <a:prstGeom prst="line">
            <a:avLst/>
          </a:prstGeom>
          <a:noFill/>
          <a:ln w="6350">
            <a:solidFill>
              <a:srgbClr val="DDD8C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73150" y="4170065"/>
            <a:ext cx="44475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Журнал решений</a:t>
            </a:r>
            <a:endParaRPr lang="en-US" sz="1900" dirty="0"/>
          </a:p>
        </p:txBody>
      </p:sp>
      <p:pic>
        <p:nvPicPr>
          <p:cNvPr id="22" name="Image 4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91150" y="4175125"/>
            <a:ext cx="279400" cy="279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48350" y="4162425"/>
            <a:ext cx="51800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Цепочка SHA-256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1073150" y="4645025"/>
            <a:ext cx="10045700" cy="0"/>
          </a:xfrm>
          <a:prstGeom prst="line">
            <a:avLst/>
          </a:prstGeom>
          <a:noFill/>
          <a:ln w="6350">
            <a:solidFill>
              <a:srgbClr val="DDD8C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73150" y="4830465"/>
            <a:ext cx="44475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Дообучение</a:t>
            </a:r>
            <a:endParaRPr lang="en-US" sz="1900" dirty="0"/>
          </a:p>
        </p:txBody>
      </p:sp>
      <p:pic>
        <p:nvPicPr>
          <p:cNvPr id="26" name="Image 5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91150" y="4835525"/>
            <a:ext cx="279400" cy="2794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848350" y="4670425"/>
            <a:ext cx="518007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Еженедельный цикл, проверен бэктестом</a:t>
            </a:r>
            <a:endParaRPr lang="en-US" sz="2000" dirty="0"/>
          </a:p>
        </p:txBody>
      </p:sp>
      <p:sp>
        <p:nvSpPr>
          <p:cNvPr id="28" name="Shape 20"/>
          <p:cNvSpPr/>
          <p:nvPr/>
        </p:nvSpPr>
        <p:spPr>
          <a:xfrm>
            <a:off x="1073150" y="5305425"/>
            <a:ext cx="10045700" cy="0"/>
          </a:xfrm>
          <a:prstGeom prst="line">
            <a:avLst/>
          </a:prstGeom>
          <a:noFill/>
          <a:ln w="6350">
            <a:solidFill>
              <a:srgbClr val="DDD8C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1073150" y="5490865"/>
            <a:ext cx="44475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3A3A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REST API</a:t>
            </a:r>
            <a:endParaRPr lang="en-US" sz="1900" dirty="0"/>
          </a:p>
        </p:txBody>
      </p:sp>
      <p:pic>
        <p:nvPicPr>
          <p:cNvPr id="30" name="Image 6" descr="Che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91150" y="5495925"/>
            <a:ext cx="279400" cy="2794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48350" y="5483225"/>
            <a:ext cx="518007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/docs — Swagger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096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223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ЗАЩИТА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985441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Безопасность </a:t>
            </a:r>
            <a:r>
              <a:rPr lang="en-US" sz="42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и надёжность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15975" y="2294334"/>
            <a:ext cx="5149850" cy="1845270"/>
          </a:xfrm>
          <a:prstGeom prst="roundRect">
            <a:avLst>
              <a:gd name="adj" fmla="val 9463"/>
            </a:avLst>
          </a:prstGeom>
          <a:solidFill>
            <a:srgbClr val="FBFAF6"/>
          </a:solidFill>
          <a:ln w="635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098550" y="257690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E8FF"/>
          </a:solidFill>
          <a:ln/>
        </p:spPr>
        <p:txBody>
          <a:bodyPr/>
          <a:p/>
        </p:txBody>
      </p:sp>
      <p:pic>
        <p:nvPicPr>
          <p:cNvPr id="7" name="Image 1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00150" y="2678509"/>
            <a:ext cx="254000" cy="254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58950" y="2576909"/>
            <a:ext cx="404202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 чтение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758950" y="2957909"/>
            <a:ext cx="404202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 журналу СМВУ подключаемся без права записи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26175" y="2294334"/>
            <a:ext cx="5149850" cy="1845270"/>
          </a:xfrm>
          <a:prstGeom prst="roundRect">
            <a:avLst>
              <a:gd name="adj" fmla="val 9463"/>
            </a:avLst>
          </a:prstGeom>
          <a:solidFill>
            <a:srgbClr val="FBFAF6"/>
          </a:solidFill>
          <a:ln w="635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508750" y="257690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E8FF"/>
          </a:solidFill>
          <a:ln/>
        </p:spPr>
        <p:txBody>
          <a:bodyPr/>
          <a:p/>
        </p:txBody>
      </p:sp>
      <p:pic>
        <p:nvPicPr>
          <p:cNvPr id="12" name="Image 2" descr="Ke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10350" y="2678509"/>
            <a:ext cx="254000" cy="254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69150" y="2576909"/>
            <a:ext cx="404202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Решения только по PIN диспетчера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169150" y="3262709"/>
            <a:ext cx="404202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после 5 неверных попыток — блокировка на 5 минут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15975" y="4399955"/>
            <a:ext cx="5149850" cy="1845270"/>
          </a:xfrm>
          <a:prstGeom prst="roundRect">
            <a:avLst>
              <a:gd name="adj" fmla="val 9463"/>
            </a:avLst>
          </a:prstGeom>
          <a:solidFill>
            <a:srgbClr val="FBFAF6"/>
          </a:solidFill>
          <a:ln w="635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098550" y="46825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E8FF"/>
          </a:solidFill>
          <a:ln/>
        </p:spPr>
        <p:txBody>
          <a:bodyPr/>
          <a:p/>
        </p:txBody>
      </p:sp>
      <p:pic>
        <p:nvPicPr>
          <p:cNvPr id="17" name="Image 3" descr="Lin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00150" y="4784130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58950" y="4682530"/>
            <a:ext cx="404202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Журнал решений — цепочка SHA-256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1758950" y="5368330"/>
            <a:ext cx="404202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задним числом ничего не подменить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226175" y="4399955"/>
            <a:ext cx="5149850" cy="1845270"/>
          </a:xfrm>
          <a:prstGeom prst="roundRect">
            <a:avLst>
              <a:gd name="adj" fmla="val 9463"/>
            </a:avLst>
          </a:prstGeom>
          <a:solidFill>
            <a:srgbClr val="FBFAF6"/>
          </a:solidFill>
          <a:ln w="6350">
            <a:solidFill>
              <a:srgbClr val="CFCABD"/>
            </a:solidFill>
            <a:prstDash val="solid"/>
          </a:ln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6508750" y="46825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E8FF"/>
          </a:solidFill>
          <a:ln/>
        </p:spPr>
        <p:txBody>
          <a:bodyPr/>
          <a:p/>
        </p:txBody>
      </p:sp>
      <p:pic>
        <p:nvPicPr>
          <p:cNvPr id="22" name="Image 4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10350" y="4784130"/>
            <a:ext cx="254000" cy="254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69150" y="4682530"/>
            <a:ext cx="404202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1131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108 автотестов, Docker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169150" y="5063530"/>
            <a:ext cx="4042029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5B5A5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стенд работает публично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096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ПИЛОТ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985441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Пилот </a:t>
            </a:r>
            <a:r>
              <a:rPr lang="en-US" sz="4200" i="1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за три шага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12800" y="2007295"/>
            <a:ext cx="3251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12800" y="2140645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12800" y="2750245"/>
            <a:ext cx="33487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Акты ТОиР 2025–2026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" y="3105845"/>
            <a:ext cx="3348736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переобучение на фактических отказах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470400" y="2007295"/>
            <a:ext cx="3251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70400" y="2140645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470400" y="2750245"/>
            <a:ext cx="33487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Теневой режим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470400" y="3105845"/>
            <a:ext cx="334873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1–2 месяца рядом с ОДС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28000" y="2007295"/>
            <a:ext cx="3251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28000" y="2140645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128000" y="2750245"/>
            <a:ext cx="33487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Эффект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28000" y="3105845"/>
            <a:ext cx="3348736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считаем по реальным выездам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9150" y="4135239"/>
            <a:ext cx="10553700" cy="2106811"/>
          </a:xfrm>
          <a:prstGeom prst="roundRect">
            <a:avLst>
              <a:gd name="adj" fmla="val 6932"/>
            </a:avLst>
          </a:prstGeom>
          <a:solidFill>
            <a:srgbClr val="0F1115"/>
          </a:solidFill>
          <a:ln w="12700">
            <a:solidFill>
              <a:srgbClr val="8C95FF"/>
            </a:solidFill>
            <a:prstDash val="dash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79500" y="4370189"/>
            <a:ext cx="103339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ОКУПАЕМОСТЬ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9500" y="4957465"/>
            <a:ext cx="5886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22–38 </a:t>
            </a:r>
            <a:r>
              <a:rPr lang="en-US" sz="6400" i="1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%</a:t>
            </a:r>
            <a:endParaRPr lang="en-US" sz="6400" dirty="0"/>
          </a:p>
        </p:txBody>
      </p:sp>
      <p:sp>
        <p:nvSpPr>
          <p:cNvPr id="20" name="Text 17"/>
          <p:cNvSpPr/>
          <p:nvPr/>
        </p:nvSpPr>
        <p:spPr>
          <a:xfrm>
            <a:off x="7099300" y="4720630"/>
            <a:ext cx="410743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осмотр окупается от 17 %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099300" y="5412780"/>
            <a:ext cx="4107434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 журналу: 22 % в стенде, 38 % с дообучением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Изолинии риска: линии сгущаются и краснеют там, где инцидент ближе">    </p:cNvPr>
          <p:cNvPicPr>
            <a:picLocks noChangeAspect="1"/>
          </p:cNvPicPr>
          <p:nvPr/>
        </p:nvPicPr>
        <p:blipFill>
          <a:blip r:embed="rId2"/>
          <a:srcRect l="12" r="12" t="0" b="0"/>
          <a:stretch/>
        </p:blipFill>
        <p:spPr>
          <a:xfrm>
            <a:off x="3937000" y="0"/>
            <a:ext cx="8255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60400"/>
            <a:ext cx="784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5B5A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НЕЙРОКОНТУР · КОМАНДА VECTOR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1200" y="1016000"/>
            <a:ext cx="6540500" cy="161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0"/>
              </a:lnSpc>
              <a:buNone/>
            </a:pPr>
            <a:r>
              <a:rPr lang="en-US" sz="12500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Откройте</a:t>
            </a:r>
            <a:endParaRPr lang="en-US" sz="12500" dirty="0"/>
          </a:p>
        </p:txBody>
      </p:sp>
      <p:sp>
        <p:nvSpPr>
          <p:cNvPr id="5" name="Text 2"/>
          <p:cNvSpPr/>
          <p:nvPr/>
        </p:nvSpPr>
        <p:spPr>
          <a:xfrm>
            <a:off x="1397000" y="2476500"/>
            <a:ext cx="5232400" cy="161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500"/>
              </a:lnSpc>
              <a:buNone/>
            </a:pPr>
            <a:r>
              <a:rPr lang="en-US" sz="12500" i="1" dirty="0">
                <a:solidFill>
                  <a:srgbClr val="2233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стенд</a:t>
            </a:r>
            <a:endParaRPr lang="en-US" sz="12500" dirty="0"/>
          </a:p>
        </p:txBody>
      </p:sp>
      <p:sp>
        <p:nvSpPr>
          <p:cNvPr id="6" name="Text 3"/>
          <p:cNvSpPr/>
          <p:nvPr/>
        </p:nvSpPr>
        <p:spPr>
          <a:xfrm>
            <a:off x="812800" y="4445000"/>
            <a:ext cx="5232400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i="1" dirty="0">
                <a:solidFill>
                  <a:srgbClr val="1113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Видеть поломку раньше, чем она случится.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6146800"/>
            <a:ext cx="65405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3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moscollector-neurokontur.onrender.com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734175" y="3597275"/>
            <a:ext cx="2216150" cy="247015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6350">
            <a:solidFill>
              <a:srgbClr val="CFCABD"/>
            </a:solidFill>
            <a:prstDash val="solid"/>
          </a:ln>
          <a:effectLst>
            <a:outerShdw sx="100000" sy="100000" kx="0" ky="0" algn="bl" rotWithShape="0" blurRad="254000" dist="101600" dir="5400000">
              <a:srgbClr val="0F1115">
                <a:alpha val="12000"/>
              </a:srgbClr>
            </a:outerShdw>
          </a:effectLst>
        </p:spPr>
      </p:sp>
      <p:pic>
        <p:nvPicPr>
          <p:cNvPr id="9" name="Image 1" descr="QR-код стенда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21500" y="3784600"/>
            <a:ext cx="1841500" cy="184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97663" y="5689600"/>
            <a:ext cx="228917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13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стенд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210675" y="3978275"/>
            <a:ext cx="1835150" cy="2089150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 w="6350">
            <a:solidFill>
              <a:srgbClr val="CFCABD"/>
            </a:solidFill>
            <a:prstDash val="solid"/>
          </a:ln>
          <a:effectLst>
            <a:outerShdw sx="100000" sy="100000" kx="0" ky="0" algn="bl" rotWithShape="0" blurRad="254000" dist="101600" dir="5400000">
              <a:srgbClr val="0F1115">
                <a:alpha val="12000"/>
              </a:srgbClr>
            </a:outerShdw>
          </a:effectLst>
        </p:spPr>
      </p:sp>
      <p:pic>
        <p:nvPicPr>
          <p:cNvPr id="12" name="Image 2" descr="QR-код репозитория с кодом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98000" y="4165600"/>
            <a:ext cx="1460500" cy="146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79878" y="5689600"/>
            <a:ext cx="1896745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113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код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096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БЫСТРЫЙ КОНТУР · СИНТЕТИКА · 20 ОТЛОЖЕННЫХ НАБОРОВ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12800" y="985441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Сценарный </a:t>
            </a:r>
            <a:r>
              <a:rPr lang="en-US" sz="4200" i="1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полигон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812800" y="2007295"/>
            <a:ext cx="3251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12800" y="2140645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680/680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12800" y="2750245"/>
            <a:ext cx="33487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Событий найдено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" y="3105845"/>
            <a:ext cx="3348736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пороги без контура: 600/680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470400" y="2007295"/>
            <a:ext cx="3251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70400" y="2140645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+7 / +37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470400" y="2750245"/>
            <a:ext cx="33487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Минут раньше порога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470400" y="3105845"/>
            <a:ext cx="3348736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газ / перегрев, медиана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28000" y="2007295"/>
            <a:ext cx="3251200" cy="0"/>
          </a:xfrm>
          <a:prstGeom prst="line">
            <a:avLst/>
          </a:prstGeom>
          <a:noFill/>
          <a:ln w="12700">
            <a:solidFill>
              <a:srgbClr val="3B405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28000" y="2140645"/>
            <a:ext cx="33487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dirty="0">
                <a:solidFill>
                  <a:srgbClr val="8C95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146 / 1 436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128000" y="2750245"/>
            <a:ext cx="33487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Оповещений в сутки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28000" y="3105845"/>
            <a:ext cx="3348736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наш контур / простой порог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9150" y="4135239"/>
            <a:ext cx="10553700" cy="2106811"/>
          </a:xfrm>
          <a:prstGeom prst="roundRect">
            <a:avLst>
              <a:gd name="adj" fmla="val 6932"/>
            </a:avLst>
          </a:prstGeom>
          <a:solidFill>
            <a:srgbClr val="0F1115"/>
          </a:solidFill>
          <a:ln w="12700">
            <a:solidFill>
              <a:srgbClr val="8C95FF"/>
            </a:solidFill>
            <a:prstDash val="dash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79500" y="4370189"/>
            <a:ext cx="1033399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8C9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ЧЕСТНО О ГРАНИЦАХ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9500" y="4957465"/>
            <a:ext cx="5886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синтетика</a:t>
            </a:r>
            <a:r>
              <a:rPr lang="en-US" sz="6400" i="1" dirty="0">
                <a:solidFill>
                  <a:srgbClr val="F4F2EC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/>
            </a:r>
            <a:endParaRPr lang="en-US" sz="6400" dirty="0"/>
          </a:p>
        </p:txBody>
      </p:sp>
      <p:sp>
        <p:nvSpPr>
          <p:cNvPr id="20" name="Text 17"/>
          <p:cNvSpPr/>
          <p:nvPr/>
        </p:nvSpPr>
        <p:spPr>
          <a:xfrm>
            <a:off x="7099300" y="4720630"/>
            <a:ext cx="410743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800" dirty="0">
                <a:solidFill>
                  <a:srgbClr val="F4F2E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проверка логики, а не оценка на реальных авариях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099300" y="5412780"/>
            <a:ext cx="4107434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500" dirty="0">
                <a:solidFill>
                  <a:srgbClr val="B7BCC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ложные тревоги порогов — по построению теста; шаг 5 мин: газ −2,6 мин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482</Words>
  <Application>Microsoft Office PowerPoint</Application>
  <PresentationFormat>Широкоэкранный</PresentationFormat>
  <Paragraphs>72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Montserrat</vt:lpstr>
      <vt:lpstr>Wingdings</vt:lpstr>
      <vt:lpstr>Для Академия инноваторов 16_9</vt:lpstr>
      <vt:lpstr>НейроКонтур</vt:lpstr>
      <vt:lpstr>КОМАНДА «VECTOR»</vt:lpstr>
      <vt:lpstr>КОМАНДА «VECTOR»</vt:lpstr>
      <vt:lpstr>КОМАНДА «VECTOR»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НейроКонтур — обязательные слайды ЛЦТ 2026 (команда Vector)</dc:title>
  <dc:creator>Команда Vector</dc:creator>
  <cp:lastModifiedBy>YVL</cp:lastModifiedBy>
  <cp:revision>2</cp:revision>
  <dcterms:created xsi:type="dcterms:W3CDTF">2023-05-15T07:36:23Z</dcterms:created>
  <dcterms:modified xsi:type="dcterms:W3CDTF">2026-09-29T19:35:36Z</dcterms:modified>
</cp:coreProperties>
</file>