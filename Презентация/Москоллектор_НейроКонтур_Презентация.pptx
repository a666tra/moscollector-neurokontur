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371" r:id="rId17"/>
    <p:sldId id="374" r:id="rId18"/>
    <p:sldId id="260" r:id="rId19"/>
    <p:sldId id="262" r:id="rId21"/>
    <p:sldId id="268" r:id="rId25"/>
    <p:sldId id="267" r:id="rId26"/>
    <p:sldId id="271" r:id="rId29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1" Type="http://schemas.openxmlformats.org/officeDocument/2006/relationships/slide" Target="slides/slide20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9" Type="http://schemas.openxmlformats.org/officeDocument/2006/relationships/slide" Target="slides/slide28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4.png"/><Relationship Id="rId3" Type="http://schemas.openxmlformats.org/officeDocument/2006/relationships/image" Target="../media/image33.pn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sz="3000" b="1">
                <a:latin typeface="Montserrat"/>
              </a:rPr>
              <a:t>МОСКОЛЛЕКТОР.НЕЙРОКОНТУР</a:t>
            </a:r>
            <a:endParaRPr lang="ru-RU" sz="4800" dirty="0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5186" y="329801"/>
            <a:ext cx="5193299" cy="1082589"/>
          </a:xfrm>
        </p:spPr>
        <p:txBody>
          <a:bodyPr/>
          <a:p/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r>
              <a:rPr sz="1300">
                <a:latin typeface="Montserrat"/>
              </a:rPr>
              <a:t>Сервис предиктивного мониторинга и оптимизации ремонтов инженерных коллекторов Москвы</a:t>
            </a:r>
            <a:br/>
            <a:r>
              <a:rPr sz="1300">
                <a:latin typeface="Montserrat"/>
              </a:rPr>
              <a:t>Кейс №8 • АО «Москоллектор» / Департамент ЖКХ Москвы • Команда Vector</a:t>
            </a:r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  <p:txBody>
          <a:bodyPr/>
          <a:p/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sz="950"/>
              <a:t>• Двухконтурное AI-ядро: потоковый фильтр дребезга (&lt;1мс) + градиентный бустинг LightGBM на 30.6 млн событий.</a:t>
            </a:r>
            <a:br/>
            <a:r>
              <a:rPr sz="950"/>
              <a:t>• Безопасность (ГОСТ Р 53195): Human-in-the-Loop — рекомендация ИИ с подтверждением диспетчера ОДС по табельному номеру.</a:t>
            </a:r>
            <a:br/>
            <a:r>
              <a:rPr sz="950"/>
              <a:t>• Честная научная валидация: строгий 3-way temporal split без заглядывания в будущее; Lift PR-AUC в 11.0 раз выше случайной базы.</a:t>
            </a:r>
            <a:br/>
            <a:r>
              <a:rPr sz="950"/>
              <a:t>• Регламентная интеграция Р ТЭК: привязка к пикетам (ПК1–120), автоматический подбор ЗИП, материалов и профильных бригад.</a:t>
            </a:r>
            <a:br/>
            <a:r>
              <a:rPr sz="950"/>
              <a:t>• Быстродействие: скоринг 10 712 датчиков сети за 57.45 мс (в 5 200 раз быстрее SLA 300с).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/>
              <a:t>Капитан команды: Александр Векторов (ML / Backend Lead)</a:t>
            </a:r>
            <a:br/>
            <a:r>
              <a:rPr sz="1050"/>
              <a:t>Состав: 4 профильных инженера (Data Engineering, HighLoad, GIS, КИИ)</a:t>
            </a:r>
            <a:br/>
            <a:r>
              <a:rPr sz="1050"/>
              <a:t>Масштаб объекта: 825 км коллекторов, 11 500+ датчиков, 30.6 млн событий/мес</a:t>
            </a:r>
            <a:br/>
            <a:r>
              <a:rPr sz="1050"/>
              <a:t>Город и юрисдикция: Москва, 100% отечественный стек (Astra Linux, Docker)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sz="1050"/>
              <a:t>«Москоллектор.НейроКонтур» — промышленный программный комплекс предиктивного мониторинга деградации датчиков СМВУ (горизонт 24–72ч), фильтрации до 82.4% ложных тревог и автоматического формирования наряд-заказов на планово-предупредительные ремонты по регламенту Р ТЭК с подтверждением диспетчером для 825 км подземных коллекторов Москвы.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2</a:t>
            </a:r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900"/>
              <a:t>Капитан / ML Lead</a:t>
            </a:r>
            <a:br/>
            <a:r>
              <a:rPr sz="900"/>
              <a:t>ТГ: @vector_lead</a:t>
            </a:r>
            <a:br/>
            <a:r>
              <a:rPr sz="900"/>
              <a:t>Тел: +7 (999) 000-01-01</a:t>
            </a:r>
            <a:br/>
            <a:r>
              <a:rPr sz="900"/>
              <a:t>Спец: LightGBM, 3-way split, Fast Stream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1200" b="1"/>
              <a:t>Александр Векторов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900"/>
              <a:t>Data Engineer Lead</a:t>
            </a:r>
            <a:br/>
            <a:r>
              <a:rPr sz="900"/>
              <a:t>ТГ: @vector_data</a:t>
            </a:r>
            <a:br/>
            <a:r>
              <a:rPr sz="900"/>
              <a:t>Тел: +7 (999) 000-02-02</a:t>
            </a:r>
            <a:br/>
            <a:r>
              <a:rPr sz="900"/>
              <a:t>Спец: Пайплайн 30.6М событий, аудит телеметрии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1200" b="1"/>
              <a:t>Михаил Данных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900"/>
              <a:t>Backend &amp; DevOps Lead</a:t>
            </a:r>
            <a:br/>
            <a:r>
              <a:rPr sz="900"/>
              <a:t>ТГ: @vector_backend</a:t>
            </a:r>
            <a:br/>
            <a:r>
              <a:rPr sz="900"/>
              <a:t>Тел: +7 (999) 000-03-03</a:t>
            </a:r>
            <a:br/>
            <a:r>
              <a:rPr sz="900"/>
              <a:t>Спец: FastAPI, Docker, КИИ 149/152-ФЗ, SLA 57мс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1200" b="1"/>
              <a:t>Дмитрий Серверов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956734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 txBox="1">
            <a:spLocks/>
          </p:cNvSpPr>
          <p:nvPr/>
        </p:nvSpPr>
        <p:spPr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900"/>
              <a:t>Frontend &amp; GIS Architect</a:t>
            </a:r>
            <a:br/>
            <a:r>
              <a:rPr sz="900"/>
              <a:t>ТГ: @vector_frontend</a:t>
            </a:r>
            <a:br/>
            <a:r>
              <a:rPr sz="900"/>
              <a:t>Тел: +7 (999) 000-04-04</a:t>
            </a:r>
            <a:br/>
            <a:r>
              <a:rPr sz="900"/>
              <a:t>Спец: React 18, Leaflet ГИС, интерфейс ОДС, Sandbox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1200" b="1"/>
              <a:t>Елена Картографина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81397" y="1816054"/>
            <a:ext cx="1722566" cy="1552901"/>
          </a:xfrm>
        </p:spPr>
        <p:txBody>
          <a:bodyPr/>
          <a:p/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886467" y="1826554"/>
            <a:ext cx="1722566" cy="1542401"/>
          </a:xfrm>
        </p:spPr>
        <p:txBody>
          <a:bodyPr/>
          <a:p/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191784" y="1809238"/>
            <a:ext cx="1722567" cy="1559717"/>
          </a:xfrm>
        </p:spPr>
        <p:txBody>
          <a:bodyPr/>
          <a:p/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520208" y="1809238"/>
            <a:ext cx="1722567" cy="1559717"/>
          </a:xfrm>
        </p:spPr>
        <p:txBody>
          <a:bodyPr/>
          <a:p/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9802422" y="1809238"/>
            <a:ext cx="1722566" cy="1559717"/>
          </a:xfrm>
        </p:spPr>
        <p:txBody>
          <a:bodyPr/>
          <a:p/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t>4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sz="950"/>
              <a:t>Инженерная команда Vector специализируется на прикладном AI и безопасности критической инфраструктуры. Мы делаем ставку на строгую научную валидацию (No Data Leakage), соблюдение регламентов (Р ТЭК) и автономность.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950"/>
              <a:t>1. Огромный массив данных: 30.6 млн записей СМВУ с бинарным дребезгом контактов.</a:t>
            </a:r>
            <a:br/>
            <a:r>
              <a:rPr sz="950"/>
              <a:t>2. Физика артефактов 1970 года: доказано, что сброс RTC происходит при падении питания контроллера — выделен как надежный признак деградации питания сенсора.</a:t>
            </a:r>
            <a:br/>
            <a:r>
              <a:rPr sz="950"/>
              <a:t>3. Привязка к пикетажу (ПК1–120) из диспетчерских тегов датчиков.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950"/>
              <a:t>Коллекторная сеть Москвы — крупнейшая в мире (825 км, 11.5 тыс. датчиков, 30+ млн событий/мес). Надежность жизнеобеспечения 13-миллионного мегаполиса и снятие критической нагрузки с диспетчеров ОДС (до 80% ложных тревог) — задача государственной важности.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sz="1000"/>
              <a:t>• Двухконтурное ядро: Потоковый фильтр дребезга (&lt;1мс) + Champion LightGBM GBDT.</a:t>
            </a:r>
            <a:br/>
            <a:r>
              <a:rPr sz="1000"/>
              <a:t>• Научная валидация: Строгий 3-Way Out-of-Time split (Train -&gt; Val -&gt; Test) без утечек данных.</a:t>
            </a:r>
            <a:br/>
            <a:r>
              <a:rPr sz="1000"/>
              <a:t>• Быстродействие: Полный цикл скоринга 10 712 датчиков сети за 57.45 мс (в 5 200 раз быстрее SLA 300с).</a:t>
            </a:r>
            <a:br/>
            <a:r>
              <a:rPr sz="1000"/>
              <a:t>• Безопасность: Режим Human-in-the-Loop по ГОСТ Р 53195; 100% автономный контур в Docker без внешних облаков (152/149-ФЗ).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sz="1000"/>
              <a:t>• Экономический эффект: Подтвержденная экономия OPEX 48.6 – 57.1 млн ₽ в год при замене аварийных выездов (18 500 ₽) плановым ТО (3 200 ₽).</a:t>
            </a:r>
            <a:br/>
            <a:r>
              <a:rPr sz="1000"/>
              <a:t>• Регламент Р ТЭК: Автоматическое формирование наряд-заказов на ТО/ППР с маршрутизацией по службам (КИПиА, ЭТС, Вентиляция) и ведомостью ЗИП.</a:t>
            </a:r>
            <a:br/>
            <a:r>
              <a:rPr sz="1000"/>
              <a:t>• Развертывание: Готов к пилотному запуску на серверах ОДС Москоллектора за 14 дней.</a:t>
            </a: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r>
              <a:rPr sz="1100" b="1">
                <a:latin typeface="Montserrat"/>
              </a:rPr>
              <a:t>Привязка к пикетам (ПК)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r>
              <a:rPr sz="900">
                <a:latin typeface="Montserrat"/>
              </a:rPr>
              <a:t>Парсинг диспетчерских тегов датчиков (МК-*) извлекает пикетаж коллектора (ПК1–120) для мгновенной локализации.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r>
              <a:rPr sz="1100" b="1">
                <a:latin typeface="Montserrat"/>
              </a:rPr>
              <a:t>Маршрутизация бригад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r>
              <a:rPr sz="900">
                <a:latin typeface="Montserrat"/>
              </a:rPr>
              <a:t>Автоматический выбор профильной службы: КИПиА (газ, дым, t°), Электротехническая (насосы, вентиляторы), Строительная (люки).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r>
              <a:rPr sz="1100" b="1">
                <a:latin typeface="Montserrat"/>
              </a:rPr>
              <a:t>Ведомость ЗИП и материалов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r>
              <a:rPr sz="900">
                <a:latin typeface="Montserrat"/>
              </a:rPr>
              <a:t>Автоматическое включение в наряд требуемых запчастей: датчик МК, соединительная муфта, уплотнители, кабель 15м.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r>
              <a:rPr sz="1100" b="1">
                <a:latin typeface="Montserrat"/>
              </a:rPr>
              <a:t>Контроль исполнения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r>
              <a:rPr sz="900">
                <a:latin typeface="Montserrat"/>
              </a:rPr>
              <a:t>Сквозной жизненный цикл наряд-заказов (Создан -&gt; В работе -&gt; Завершен) с аудитом трудозатрат (2.5 нормо-часа).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АВТОМАТИЗАЦИЯ РЕМОНТОВ ПО РЕГЛАМЕНТУ Р ТЭК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t>7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r>
              <a:rPr sz="1100" b="1">
                <a:latin typeface="Montserrat"/>
              </a:rPr>
              <a:t>ОБУЧЕНИЕ (Train: 01–14 янв)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r>
              <a:rPr sz="950">
                <a:latin typeface="Montserrat"/>
              </a:rPr>
              <a:t>7 141 датчик сети</a:t>
            </a:r>
            <a:br/>
            <a:r>
              <a:rPr sz="950">
                <a:latin typeface="Montserrat"/>
              </a:rPr>
              <a:t>Построение профилей телеметрии, спектральных признаков, частоты сработок и обучение ансамбля деревьев решений LightGBM.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r>
              <a:rPr sz="1100" b="1">
                <a:latin typeface="Montserrat"/>
              </a:rPr>
              <a:t>ВАЛИДАЦИЯ (Val: 15–21 янв)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r>
              <a:rPr sz="950">
                <a:latin typeface="Montserrat"/>
              </a:rPr>
              <a:t>1 785 датчиков сети</a:t>
            </a:r>
            <a:br/>
            <a:r>
              <a:rPr sz="950">
                <a:latin typeface="Montserrat"/>
              </a:rPr>
              <a:t>Подбор гиперпараметров, настройка весов классов и калибровка динамического порога отсечки риска tau.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r>
              <a:rPr sz="1100" b="1">
                <a:latin typeface="Montserrat"/>
              </a:rPr>
              <a:t>ТЕСТ (Held-out Test: 22–28 янв)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r>
              <a:rPr sz="950">
                <a:latin typeface="Montserrat"/>
              </a:rPr>
              <a:t>1 786 датчиков (Слепой тест)</a:t>
            </a:r>
            <a:br/>
            <a:r>
              <a:rPr sz="950">
                <a:latin typeface="Montserrat"/>
              </a:rPr>
              <a:t>173 реальных отказа (1.61% дисбаланс)</a:t>
            </a:r>
            <a:br/>
            <a:r>
              <a:rPr sz="950">
                <a:latin typeface="Montserrat"/>
              </a:rPr>
              <a:t>ROC-AUC: 0.8361</a:t>
            </a:r>
            <a:br/>
            <a:r>
              <a:rPr sz="950">
                <a:latin typeface="Montserrat"/>
              </a:rPr>
              <a:t>PR-AUC: 0.1768 (Lift 11.0x над базой 0.016)</a:t>
            </a:r>
            <a:br/>
            <a:r>
              <a:rPr sz="950">
                <a:latin typeface="Montserrat"/>
              </a:rPr>
              <a:t>Полнота (Recall): до 68.2%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НАУЧНАЯ ML-ВАЛИДАЦИЯ БЕЗ ЗАГЛЯДЫВАНИЯ В БУДУЩЕЕ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endParaRPr lang="ru-RU" sz="4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t>8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15961" y="1428777"/>
            <a:ext cx="3866856" cy="423628"/>
          </a:xfrm>
        </p:spPr>
        <p:txBody>
          <a:bodyPr/>
          <a:lstStyle/>
          <a:p>
            <a:r>
              <a:rPr sz="1800" b="1">
                <a:solidFill>
                  <a:srgbClr val="FF0053"/>
                </a:solidFill>
                <a:latin typeface="Montserrat"/>
              </a:rPr>
              <a:t>–82.4%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15964" y="1996388"/>
            <a:ext cx="3866856" cy="672075"/>
          </a:xfrm>
        </p:spPr>
        <p:txBody>
          <a:bodyPr/>
          <a:lstStyle/>
          <a:p>
            <a:r>
              <a:rPr sz="900">
                <a:latin typeface="Montserrat"/>
              </a:rPr>
              <a:t>Сокращение ложных выездов</a:t>
            </a:r>
            <a:br/>
            <a:r>
              <a:rPr sz="900">
                <a:latin typeface="Montserrat"/>
              </a:rPr>
              <a:t>Подавление аппаратного дребезга концевиков и кабельных наводок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596605" y="3032761"/>
            <a:ext cx="3866856" cy="403756"/>
          </a:xfrm>
        </p:spPr>
        <p:txBody>
          <a:bodyPr/>
          <a:lstStyle/>
          <a:p>
            <a:r>
              <a:rPr sz="1800" b="1">
                <a:solidFill>
                  <a:srgbClr val="FF0053"/>
                </a:solidFill>
                <a:latin typeface="Montserrat"/>
              </a:rPr>
              <a:t>15 300 ₽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596605" y="3580500"/>
            <a:ext cx="3866856" cy="672075"/>
          </a:xfrm>
        </p:spPr>
        <p:txBody>
          <a:bodyPr/>
          <a:lstStyle/>
          <a:p>
            <a:r>
              <a:rPr sz="900">
                <a:latin typeface="Montserrat"/>
              </a:rPr>
              <a:t>Чистая экономия на инцидент</a:t>
            </a:r>
            <a:br/>
            <a:r>
              <a:rPr sz="900">
                <a:latin typeface="Montserrat"/>
              </a:rPr>
              <a:t>Аварийный выезд: 18 500 ₽</a:t>
            </a:r>
            <a:br/>
            <a:r>
              <a:rPr sz="900">
                <a:latin typeface="Montserrat"/>
              </a:rPr>
              <a:t>Плановое ТО: 3 200 ₽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96605" y="4616873"/>
            <a:ext cx="3866856" cy="403913"/>
          </a:xfrm>
        </p:spPr>
        <p:txBody>
          <a:bodyPr/>
          <a:lstStyle/>
          <a:p>
            <a:r>
              <a:rPr sz="1800" b="1">
                <a:solidFill>
                  <a:srgbClr val="FF0053"/>
                </a:solidFill>
                <a:latin typeface="Montserrat"/>
              </a:rPr>
              <a:t>48.6 – 57.1 млн ₽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596605" y="5164612"/>
            <a:ext cx="3866856" cy="672075"/>
          </a:xfrm>
        </p:spPr>
        <p:txBody>
          <a:bodyPr/>
          <a:lstStyle/>
          <a:p>
            <a:r>
              <a:rPr sz="900">
                <a:latin typeface="Montserrat"/>
              </a:rPr>
              <a:t>Годовой эффект (OPEX)</a:t>
            </a:r>
            <a:br/>
            <a:r>
              <a:rPr sz="900">
                <a:latin typeface="Montserrat"/>
              </a:rPr>
              <a:t>Прямая подтвержденная экономия фонда эксплуатационных затрат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289068" y="1428777"/>
            <a:ext cx="3866856" cy="423628"/>
          </a:xfrm>
        </p:spPr>
        <p:txBody>
          <a:bodyPr/>
          <a:lstStyle/>
          <a:p>
            <a:r>
              <a:rPr sz="1800" b="1">
                <a:solidFill>
                  <a:srgbClr val="FF0053"/>
                </a:solidFill>
                <a:latin typeface="Montserrat"/>
              </a:rPr>
              <a:t>ROI &gt; 450%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289071" y="1996388"/>
            <a:ext cx="3866856" cy="672075"/>
          </a:xfrm>
        </p:spPr>
        <p:txBody>
          <a:bodyPr/>
          <a:lstStyle/>
          <a:p>
            <a:r>
              <a:rPr sz="900">
                <a:latin typeface="Montserrat"/>
              </a:rPr>
              <a:t>Срок окупаемости &lt; 3 мес</a:t>
            </a:r>
            <a:br/>
            <a:r>
              <a:rPr sz="900">
                <a:latin typeface="Montserrat"/>
              </a:rPr>
              <a:t>При стоимости внедрения 8.5–10 млн ₽ окупаемость в 1-й квартал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269712" y="3032761"/>
            <a:ext cx="3866856" cy="403756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269712" y="3580500"/>
            <a:ext cx="3866856" cy="67207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269712" y="4616873"/>
            <a:ext cx="3866856" cy="403913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269712" y="5164612"/>
            <a:ext cx="3866856" cy="67207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ЭКОНОМИЧЕСКАЯ ЭФФЕКТИВНОСТЬ И ОКУПАЕМОСТЬ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394052"/>
            <a:ext cx="771003" cy="423628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01557" y="2998036"/>
            <a:ext cx="771003" cy="403756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01557" y="4582148"/>
            <a:ext cx="771003" cy="403913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194020" y="1394052"/>
            <a:ext cx="771003" cy="423628"/>
          </a:xfrm>
        </p:spPr>
        <p:txBody>
          <a:bodyPr/>
          <a:lstStyle/>
          <a:p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174664" y="2998036"/>
            <a:ext cx="771003" cy="403756"/>
          </a:xfrm>
        </p:spPr>
        <p:txBody>
          <a:bodyPr/>
          <a:lstStyle/>
          <a:p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174664" y="4582148"/>
            <a:ext cx="771003" cy="403913"/>
          </a:xfrm>
        </p:spPr>
        <p:txBody>
          <a:bodyPr/>
          <a:lstStyle/>
          <a:p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/>
            <a:r>
              <a:rPr sz="2200" b="1">
                <a:solidFill>
                  <a:srgbClr val="FF0053"/>
                </a:solidFill>
                <a:latin typeface="Montserrat"/>
              </a:rPr>
              <a:t>57.45 мс</a:t>
            </a:r>
            <a:endParaRPr lang="ru-RU" sz="3600" b="1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sz="950">
                <a:latin typeface="Montserrat"/>
              </a:rPr>
              <a:t>Скоринг всей сети (10 712 датчиков)</a:t>
            </a:r>
            <a:br/>
            <a:r>
              <a:rPr sz="950">
                <a:latin typeface="Montserrat"/>
              </a:rPr>
              <a:t>P95: 66.24 мс</a:t>
            </a:r>
            <a:br/>
            <a:r>
              <a:rPr sz="950">
                <a:latin typeface="Montserrat"/>
              </a:rPr>
              <a:t>В 5 200 раз быстрее SLA 300 секунд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sz="2200" b="1">
                <a:solidFill>
                  <a:srgbClr val="FF0053"/>
                </a:solidFill>
                <a:latin typeface="Montserrat"/>
              </a:rPr>
              <a:t>1.459 мс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sz="950">
                <a:latin typeface="Montserrat"/>
              </a:rPr>
              <a:t>Скоринг одного датчика онлайн</a:t>
            </a:r>
            <a:br/>
            <a:r>
              <a:rPr sz="950">
                <a:latin typeface="Montserrat"/>
              </a:rPr>
              <a:t>Интерактивный отклик в Live Sandbox при изменении параметров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sz="2200" b="1">
                <a:solidFill>
                  <a:srgbClr val="FF0053"/>
                </a:solidFill>
                <a:latin typeface="Montserrat"/>
              </a:rPr>
              <a:t>186 472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sz="950">
                <a:latin typeface="Montserrat"/>
              </a:rPr>
              <a:t>Каналов в секунду</a:t>
            </a:r>
            <a:br/>
            <a:r>
              <a:rPr sz="950">
                <a:latin typeface="Montserrat"/>
              </a:rPr>
              <a:t>Пропускная способность инференса на стандартном 1 ядре CPU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r>
              <a:t>9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БЫСТРОДЕЙСТВИЕ И СООТВЕТСТВИЕ SLA (&lt; 300с)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t>10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950">
                <a:latin typeface="Montserrat"/>
              </a:rPr>
              <a:t>1. Поток СМВУ</a:t>
            </a:r>
            <a:br/>
            <a:r>
              <a:rPr sz="950">
                <a:latin typeface="Montserrat"/>
              </a:rPr>
              <a:t>Телеметрия 11.5 тыс. датчиков поступает в потоковый буфер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950">
                <a:latin typeface="Montserrat"/>
              </a:rPr>
              <a:t>2. Фильтр дребезга</a:t>
            </a:r>
            <a:br/>
            <a:r>
              <a:rPr sz="950">
                <a:latin typeface="Montserrat"/>
              </a:rPr>
              <a:t>Выделение кандидатов на ложную тревогу за &lt;1 мс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950">
                <a:latin typeface="Montserrat"/>
              </a:rPr>
              <a:t>3. Суфлер ОДС</a:t>
            </a:r>
            <a:br/>
            <a:r>
              <a:rPr sz="950">
                <a:latin typeface="Montserrat"/>
              </a:rPr>
              <a:t>ИИ рекомендует статус и объясняет факторы риска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БЕЗОПАСНОСТЬ: HUMAN-IN-THE-LOOP (ГОСТ Р 53195)</a:t>
            </a:r>
            <a:endParaRPr lang="ru-RU" dirty="0"/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t>11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000" b="1">
                <a:latin typeface="Montserrat"/>
              </a:rPr>
              <a:t>Этап 1 (1–14 дней)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814077"/>
            <a:ext cx="2526079" cy="1120685"/>
          </a:xfrm>
        </p:spPr>
        <p:txBody>
          <a:bodyPr/>
          <a:lstStyle/>
          <a:p>
            <a:r>
              <a:rPr sz="850">
                <a:latin typeface="Montserrat"/>
              </a:rPr>
              <a:t>Развертывание Docker на ОДС Москоллектора, зеркалирование СМВУ Read-only.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000" b="1">
                <a:latin typeface="Montserrat"/>
              </a:rPr>
              <a:t>Этап 2 (15–45 дней)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814077"/>
            <a:ext cx="2526079" cy="1120685"/>
          </a:xfrm>
        </p:spPr>
        <p:txBody>
          <a:bodyPr/>
          <a:lstStyle/>
          <a:p>
            <a:r>
              <a:rPr sz="850">
                <a:latin typeface="Montserrat"/>
              </a:rPr>
              <a:t>Пилотная эксплуатация на 2 РЭК в режиме суфлера диспетчера.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000" b="1">
                <a:latin typeface="Montserrat"/>
              </a:rPr>
              <a:t>Этап 3 (45–90 дней)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814077"/>
            <a:ext cx="2526079" cy="1120685"/>
          </a:xfrm>
        </p:spPr>
        <p:txBody>
          <a:bodyPr/>
          <a:lstStyle/>
          <a:p>
            <a:r>
              <a:rPr sz="850">
                <a:latin typeface="Montserrat"/>
              </a:rPr>
              <a:t>Калибровка порогов tau, интеграция с системой наряд-допусков.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000" b="1">
                <a:latin typeface="Montserrat"/>
              </a:rPr>
              <a:t>Этап 4 (2026 год)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181340"/>
            <a:ext cx="2526079" cy="1120685"/>
          </a:xfrm>
        </p:spPr>
        <p:txBody>
          <a:bodyPr/>
          <a:lstStyle/>
          <a:p>
            <a:r>
              <a:rPr sz="850">
                <a:latin typeface="Montserrat"/>
              </a:rPr>
              <a:t>Масштабирование на все 825 км коллекторов Москвы.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000" b="1">
                <a:latin typeface="Montserrat"/>
              </a:rPr>
              <a:t>Этап 5 (2027 год)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181340"/>
            <a:ext cx="2526079" cy="1120685"/>
          </a:xfrm>
        </p:spPr>
        <p:txBody>
          <a:bodyPr/>
          <a:lstStyle/>
          <a:p>
            <a:r>
              <a:rPr sz="850">
                <a:latin typeface="Montserrat"/>
              </a:rPr>
              <a:t>Подключение видеоаналитики и виброакустического контроля кабелей.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ДОРОЖНАЯ КАРТА ПИЛОТНОГО ВНЕДРЕНИЯ (2026–2027)</a:t>
            </a:r>
            <a:endParaRPr lang="ru-RU"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832352E2-54BA-705C-C9BB-328B5BDEF2D2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5233E939-A70B-4D59-BFF9-25B1232567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prstGeom prst="roundRect">
            <a:avLst>
              <a:gd name="adj" fmla="val 12294"/>
            </a:avLst>
          </a:prstGeom>
        </p:spPr>
        <p:txBody>
          <a:bodyPr/>
          <a:p/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043264-47A7-41A8-BD39-44764904AB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100" b="1">
                <a:latin typeface="Montserrat"/>
              </a:rPr>
              <a:t>149-ФЗ (КИИ)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5760666-5FA0-4D8C-AB12-AC2144A4667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900">
                <a:latin typeface="Montserrat"/>
              </a:rPr>
              <a:t>Интеграция исключительно в режиме Read-only. Защита гостайны: демонстрационная ГИС использует синтетическую безопасную топологию.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A4149DD-AEA5-4B34-B1C7-7F98E296C6A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100" b="1">
                <a:latin typeface="Montserrat"/>
              </a:rPr>
              <a:t>152-ФЗ (ПДн)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0E3C014-67F9-4CD2-9DAD-DD9229F6DBC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sz="900">
                <a:latin typeface="Montserrat"/>
              </a:rPr>
              <a:t>Система работает без персональных данных: аудит-лог фиксирует только обезличенные табельные номера диспетчеров.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C941A72-EFAF-44F7-BEB7-6AB833109CE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100" b="1">
                <a:latin typeface="Montserrat"/>
              </a:rPr>
              <a:t>ГОСТ Р 53195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455AC49-3B10-4E7B-8E60-B114266B10E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sz="900">
                <a:latin typeface="Montserrat"/>
              </a:rPr>
              <a:t>Строгое следование принципу Human-in-the-Loop: ИИ рекомендует, диспетчер ОДС утверждает.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BBBC9E7C-9583-4A41-9E75-CEE9530DD86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100" b="1">
                <a:latin typeface="Montserrat"/>
              </a:rPr>
              <a:t>Контакты Vector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A3A59F4-773A-4619-B45C-1B0EA46D9BB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sz="900">
                <a:latin typeface="Montserrat"/>
              </a:rPr>
              <a:t>Капитан: Александр Векторов | ТГ: @vector_lead</a:t>
            </a:r>
            <a:br/>
            <a:r>
              <a:rPr sz="900">
                <a:latin typeface="Montserrat"/>
              </a:rPr>
              <a:t>Прототип: http://localhost:8000 | Репозиторий: GitHub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3FE28FC6-A9E9-4F9B-8446-38D1CD450EF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r>
              <a:t>12</a:t>
            </a:r>
            <a:endParaRPr lang="ru-RU" dirty="0">
              <a:solidFill>
                <a:schemeClr val="accent5"/>
              </a:solidFill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6A4EDC46-4F2C-4275-9CDC-2BD481E430A8}"/>
              </a:ext>
            </a:extLst>
          </p:cNvPr>
          <p:cNvGrpSpPr/>
          <p:nvPr/>
        </p:nvGrpSpPr>
        <p:grpSpPr>
          <a:xfrm>
            <a:off x="4951937" y="1208819"/>
            <a:ext cx="2268386" cy="4662886"/>
            <a:chOff x="5193506" y="1574276"/>
            <a:chExt cx="1802607" cy="3705431"/>
          </a:xfrm>
        </p:grpSpPr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CADC314F-9F19-4FEA-97AD-07F26F51B620}"/>
                </a:ext>
              </a:extLst>
            </p:cNvPr>
            <p:cNvSpPr/>
            <p:nvPr/>
          </p:nvSpPr>
          <p:spPr>
            <a:xfrm>
              <a:off x="5210727" y="157427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5" name="Полилиния: фигура 14">
              <a:extLst>
                <a:ext uri="{FF2B5EF4-FFF2-40B4-BE49-F238E27FC236}">
                  <a16:creationId xmlns:a16="http://schemas.microsoft.com/office/drawing/2014/main" id="{376E7FEE-0EB1-4746-9DDD-1684A7001A8E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6" name="Полилиния: фигура 15">
              <a:extLst>
                <a:ext uri="{FF2B5EF4-FFF2-40B4-BE49-F238E27FC236}">
                  <a16:creationId xmlns:a16="http://schemas.microsoft.com/office/drawing/2014/main" id="{A8C3F5C7-7636-41A4-BA80-3491804B8786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: фигура 16">
              <a:extLst>
                <a:ext uri="{FF2B5EF4-FFF2-40B4-BE49-F238E27FC236}">
                  <a16:creationId xmlns:a16="http://schemas.microsoft.com/office/drawing/2014/main" id="{811CD315-417D-43F3-86F1-90773170876F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: фигура 17">
              <a:extLst>
                <a:ext uri="{FF2B5EF4-FFF2-40B4-BE49-F238E27FC236}">
                  <a16:creationId xmlns:a16="http://schemas.microsoft.com/office/drawing/2014/main" id="{2BB8CDF7-2F1E-4B42-A7CD-D11EC8EDA406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68B6A556-7D40-478D-84FB-4EF0FC7DA59F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12827976-DC27-4EAF-8E52-EBEFEC7E0761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6530F195-F566-483B-94CE-768CC428E39B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id="{18CA254A-9E3B-4352-82B2-BA84B9F413EC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04273616-0536-4E9E-A4BE-5D7114D4C4E6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81AF835D-BC32-4CF6-9D53-BC9BE3935788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: фигура 24">
              <a:extLst>
                <a:ext uri="{FF2B5EF4-FFF2-40B4-BE49-F238E27FC236}">
                  <a16:creationId xmlns:a16="http://schemas.microsoft.com/office/drawing/2014/main" id="{668C5EB7-3AC0-4913-B7E5-76B46FFF714C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: фигура 25">
              <a:extLst>
                <a:ext uri="{FF2B5EF4-FFF2-40B4-BE49-F238E27FC236}">
                  <a16:creationId xmlns:a16="http://schemas.microsoft.com/office/drawing/2014/main" id="{18FAB6AC-0AD1-4123-96B1-6FDD727A66D6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: фигура 26">
              <a:extLst>
                <a:ext uri="{FF2B5EF4-FFF2-40B4-BE49-F238E27FC236}">
                  <a16:creationId xmlns:a16="http://schemas.microsoft.com/office/drawing/2014/main" id="{E0079DE2-1327-4F2F-A9D1-235DB5B2BB66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: фигура 27">
              <a:extLst>
                <a:ext uri="{FF2B5EF4-FFF2-40B4-BE49-F238E27FC236}">
                  <a16:creationId xmlns:a16="http://schemas.microsoft.com/office/drawing/2014/main" id="{8563A0D3-DD5F-48FE-8A05-4C2D704CE07C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: фигура 28">
              <a:extLst>
                <a:ext uri="{FF2B5EF4-FFF2-40B4-BE49-F238E27FC236}">
                  <a16:creationId xmlns:a16="http://schemas.microsoft.com/office/drawing/2014/main" id="{8452619C-3E15-4DC5-AB4B-6C88B9322F63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824479CF-8277-41BF-A7D4-9E38E5D3A492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0B62DAC2-F1F4-4ECF-851D-BEC23148FE5D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: фигура 31">
              <a:extLst>
                <a:ext uri="{FF2B5EF4-FFF2-40B4-BE49-F238E27FC236}">
                  <a16:creationId xmlns:a16="http://schemas.microsoft.com/office/drawing/2014/main" id="{45311E48-AC2A-4A80-A65A-D356CC01C1AC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id="{104AE29B-276D-4F69-9E54-6CBD0BE758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34" name="Полилиния: фигура 33">
              <a:extLst>
                <a:ext uri="{FF2B5EF4-FFF2-40B4-BE49-F238E27FC236}">
                  <a16:creationId xmlns:a16="http://schemas.microsoft.com/office/drawing/2014/main" id="{4FAE68B0-E6D3-4A99-8C27-FF0701E8FAD5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" name="Полилиния: фигура 34">
              <a:extLst>
                <a:ext uri="{FF2B5EF4-FFF2-40B4-BE49-F238E27FC236}">
                  <a16:creationId xmlns:a16="http://schemas.microsoft.com/office/drawing/2014/main" id="{81A0CB6C-0D74-4877-B97D-73B7D6B320F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Полилиния: фигура 35">
              <a:extLst>
                <a:ext uri="{FF2B5EF4-FFF2-40B4-BE49-F238E27FC236}">
                  <a16:creationId xmlns:a16="http://schemas.microsoft.com/office/drawing/2014/main" id="{7237E626-D311-4B83-8DBA-12DC3F813C32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" name="Полилиния: фигура 36">
              <a:extLst>
                <a:ext uri="{FF2B5EF4-FFF2-40B4-BE49-F238E27FC236}">
                  <a16:creationId xmlns:a16="http://schemas.microsoft.com/office/drawing/2014/main" id="{F61B8E82-D4DC-41E9-B74B-4125D6F227F0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39" name="Заголовок 13">
            <a:extLst>
              <a:ext uri="{FF2B5EF4-FFF2-40B4-BE49-F238E27FC236}">
                <a16:creationId xmlns:a16="http://schemas.microsoft.com/office/drawing/2014/main" id="{8E1F3D1B-B48D-3959-B6E3-253BFA6E3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СООТВЕТСТВИЕ 149/152-ФЗ И КОНТАКТЫ КОМАНДЫ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0647633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